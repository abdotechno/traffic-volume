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704020202020204"/>
      <p:regular r:id="rId30"/>
    </p:embeddedFont>
    <p:embeddedFont>
      <p:font typeface="Arial Italics" charset="1" panose="020B0604020202090204"/>
      <p:regular r:id="rId31"/>
    </p:embeddedFont>
    <p:embeddedFont>
      <p:font typeface="Montserrat Bold" charset="1" panose="00000800000000000000"/>
      <p:regular r:id="rId33"/>
    </p:embeddedFont>
    <p:embeddedFont>
      <p:font typeface="Calibri (MS)" charset="1" panose="020F0502020204030204"/>
      <p:regular r:id="rId34"/>
    </p:embeddedFont>
    <p:embeddedFont>
      <p:font typeface="Calibri (MS) Bold" charset="1" panose="020F0702030404030204"/>
      <p:regular r:id="rId35"/>
    </p:embeddedFont>
    <p:embeddedFont>
      <p:font typeface="Arial" charset="1" panose="020B0604020202020204"/>
      <p:regular r:id="rId36"/>
    </p:embeddedFont>
    <p:embeddedFont>
      <p:font typeface="Arial MT Pro" charset="1" panose="020B0502020202020204"/>
      <p:regular r:id="rId38"/>
    </p:embeddedFont>
    <p:embeddedFont>
      <p:font typeface="Arial Bold Italics" charset="1" panose="020B0704020202090204"/>
      <p:regular r:id="rId41"/>
    </p:embeddedFont>
    <p:embeddedFont>
      <p:font typeface="Courier New Bold" charset="1" panose="02070609020205020404"/>
      <p:regular r:id="rId51"/>
    </p:embeddedFont>
    <p:embeddedFont>
      <p:font typeface="Courier New" charset="1" panose="020703090202050204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number on this chart is computed directly from the cleaned CSV, not simulated. This is also exactly why hour_sin/hour_cos dominate feature importance later.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number on this chart is computed directly from the cleaned CSV, not simulated. This is also exactly why hour_sin/hour_cos dominate feature importance later.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ready for the 'why is Clouds higher than Clear' question — the honest answer is correlation with time-of-day mix, not a causal weather effect. This is a good moment to show statistical maturity.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ready for the 'why is Clouds higher than Clear' question — the honest answer is correlation with time-of-day mix, not a causal weather effect. This is a good moment to show statistical maturity.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If asked why time-based split instead of random split: random splitting leaks future information into training and inflates the score; time-based split is the only way to measure real forecasting ability.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 the split is strictly chronological end to end, from cross-validation through the final holdout — no random shuffling anywhere in the pipeline.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are the team's actual measured benchmark results, consistent across the technical writeup and the deployed model card.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Computed with a Random Forest fit on the same time-based split (test R² 0.951, close to the XGBoost champion), scaled relative to the top feature. If asked which matters more, weather or time of day: time drives the large majority of the signal.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Computed with a Random Forest fit on the same time-based split (test R² 0.951, close to the XGBoost champion), scaled relative to the top feature. If asked which matters more, weather or time of day: time drives the large majority of the signal.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real, running deployment, not a design sketch. Push to GitHub, tests run, Docker image builds, deploys to Railway staging, integration tests, then promotes to production.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real, running deployment, not a design sketch. Push to GitHub, tests run, Docker image builds, deploys to Railway staging, integration tests, then promotes to production.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If there's time and a connection in the room, actually open the simulator link live — it is a stronger close than any slide.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on the number that matters most: test R-squared of 0.9594, well above the 0.90 objective, running live today — not just a notebook result.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Defense prep - expected questions:</a:t>
            </a:r>
          </a:p>
          <a:p>
            <a:r>
              <a:rPr lang="en-US"/>
              <a:t>1) Why time-series split instead of random split? Random splitting leaks future data into training; time-based split measures true forecasting capability.</a:t>
            </a:r>
          </a:p>
          <a:p>
            <a:r>
              <a:rPr lang="en-US"/>
              <a:t>2) Weather vs time of day, which matters more? hour_cos/hour_sin dominate feature importance by a wide margin; weather features (temp, holiday) rank far lower.</a:t>
            </a:r>
          </a:p>
          <a:p>
            <a:r>
              <a:rPr lang="en-US"/>
              <a:t>3) How were outliers like 0 Kelvin handled? Identified as physically impossible, corrected via temporal interpolation.</a:t>
            </a:r>
          </a:p>
          <a:p>
            <a:r>
              <a:rPr lang="en-US"/>
              <a:t>4) Why XGBoost over deep learning? Tabular data with strong periodic structure trains faster, needs less compute, and is more interpretable at comparable or better accuracy — 0.9594 R² here.</a:t>
            </a:r>
          </a:p>
          <a:p>
            <a:r>
              <a:rPr lang="en-US"/>
              <a:t>5) Why is Clouds higher than Clear in the weather chart? Correlation with time-of-day mix in the raw data, not a causal weather effect — flagged honestly on slide 8.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UFPyJ4H8.mp4" Type="http://schemas.microsoft.com/office/2007/relationships/media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jpeg" Type="http://schemas.openxmlformats.org/officeDocument/2006/relationships/image"/><Relationship Id="rId9" Target="../media/VAHUFPyJ4H8.mp4" Type="http://schemas.openxmlformats.org/officeDocument/2006/relationships/vide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1.png" Type="http://schemas.openxmlformats.org/officeDocument/2006/relationships/image"/><Relationship Id="rId4" Target="../media/image1.jpeg" Type="http://schemas.openxmlformats.org/officeDocument/2006/relationships/image"/><Relationship Id="rId5" Target="https://traffic-volume-production.up.railway.app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291840"/>
            <a:ext cx="10899819" cy="2606040"/>
            <a:chOff x="0" y="0"/>
            <a:chExt cx="14533092" cy="3474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33093" cy="3474720"/>
            </a:xfrm>
            <a:custGeom>
              <a:avLst/>
              <a:gdLst/>
              <a:ahLst/>
              <a:cxnLst/>
              <a:rect r="r" b="b" t="t" l="l"/>
              <a:pathLst>
                <a:path h="3474720" w="14533093">
                  <a:moveTo>
                    <a:pt x="0" y="0"/>
                  </a:moveTo>
                  <a:lnTo>
                    <a:pt x="14533093" y="0"/>
                  </a:lnTo>
                  <a:lnTo>
                    <a:pt x="14533093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-32128" b="-576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533092" cy="353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Metro Interstate Traffic</a:t>
              </a:r>
            </a:p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Volume Prediction &amp;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1872" y="5692140"/>
            <a:ext cx="9199909" cy="685800"/>
            <a:chOff x="0" y="0"/>
            <a:chExt cx="12266545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66545" cy="914400"/>
            </a:xfrm>
            <a:custGeom>
              <a:avLst/>
              <a:gdLst/>
              <a:ahLst/>
              <a:cxnLst/>
              <a:rect r="r" b="b" t="t" l="l"/>
              <a:pathLst>
                <a:path h="914400" w="12266545">
                  <a:moveTo>
                    <a:pt x="0" y="0"/>
                  </a:moveTo>
                  <a:lnTo>
                    <a:pt x="12266545" y="0"/>
                  </a:lnTo>
                  <a:lnTo>
                    <a:pt x="12266545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-41634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266545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CBD8F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 deployed, end-to-end forecasting system for hourly I-94 traffic volume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77948" y="311144"/>
            <a:ext cx="2398519" cy="786136"/>
            <a:chOff x="0" y="0"/>
            <a:chExt cx="3198025" cy="10481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97987" cy="1048131"/>
            </a:xfrm>
            <a:custGeom>
              <a:avLst/>
              <a:gdLst/>
              <a:ahLst/>
              <a:cxnLst/>
              <a:rect r="r" b="b" t="t" l="l"/>
              <a:pathLst>
                <a:path h="1048131" w="3197987">
                  <a:moveTo>
                    <a:pt x="0" y="0"/>
                  </a:moveTo>
                  <a:lnTo>
                    <a:pt x="3197987" y="0"/>
                  </a:lnTo>
                  <a:lnTo>
                    <a:pt x="3197987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3" r="-1" b="-12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1545" y="3291840"/>
            <a:ext cx="268572" cy="3479424"/>
          </a:xfrm>
          <a:custGeom>
            <a:avLst/>
            <a:gdLst/>
            <a:ahLst/>
            <a:cxnLst/>
            <a:rect r="r" b="b" t="t" l="l"/>
            <a:pathLst>
              <a:path h="3479424" w="268572">
                <a:moveTo>
                  <a:pt x="0" y="0"/>
                </a:moveTo>
                <a:lnTo>
                  <a:pt x="268572" y="0"/>
                </a:lnTo>
                <a:lnTo>
                  <a:pt x="268572" y="3479424"/>
                </a:lnTo>
                <a:lnTo>
                  <a:pt x="0" y="3479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026" r="0" b="-1202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14552"/>
            <a:ext cx="2487890" cy="379320"/>
          </a:xfrm>
          <a:custGeom>
            <a:avLst/>
            <a:gdLst/>
            <a:ahLst/>
            <a:cxnLst/>
            <a:rect r="r" b="b" t="t" l="l"/>
            <a:pathLst>
              <a:path h="379320" w="2487890">
                <a:moveTo>
                  <a:pt x="0" y="0"/>
                </a:moveTo>
                <a:lnTo>
                  <a:pt x="2487890" y="0"/>
                </a:lnTo>
                <a:lnTo>
                  <a:pt x="2487890" y="379320"/>
                </a:lnTo>
                <a:lnTo>
                  <a:pt x="0" y="379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77513" y="3711346"/>
            <a:ext cx="1868446" cy="883514"/>
            <a:chOff x="0" y="0"/>
            <a:chExt cx="1280160" cy="6053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605337"/>
            </a:xfrm>
            <a:custGeom>
              <a:avLst/>
              <a:gdLst/>
              <a:ahLst/>
              <a:cxnLst/>
              <a:rect r="r" b="b" t="t" l="l"/>
              <a:pathLst>
                <a:path h="60533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05337"/>
                  </a:lnTo>
                  <a:lnTo>
                    <a:pt x="0" y="60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83" t="-58048" r="0" b="-58048"/>
              </a:stretch>
            </a:blipFill>
          </p:spPr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4186773" y="2914650"/>
            <a:ext cx="1476899" cy="445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291840"/>
            <a:ext cx="9052560" cy="9052560"/>
            <a:chOff x="0" y="0"/>
            <a:chExt cx="12070080" cy="1207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12070080"/>
            </a:xfrm>
            <a:custGeom>
              <a:avLst/>
              <a:gdLst/>
              <a:ahLst/>
              <a:cxnLst/>
              <a:rect r="r" b="b" t="t" l="l"/>
              <a:pathLst>
                <a:path h="12070080" w="12070080">
                  <a:moveTo>
                    <a:pt x="0" y="6035040"/>
                  </a:moveTo>
                  <a:cubicBezTo>
                    <a:pt x="0" y="2701925"/>
                    <a:pt x="2701925" y="0"/>
                    <a:pt x="6035040" y="0"/>
                  </a:cubicBezTo>
                  <a:cubicBezTo>
                    <a:pt x="9368155" y="0"/>
                    <a:pt x="12070080" y="2701925"/>
                    <a:pt x="12070080" y="6035040"/>
                  </a:cubicBezTo>
                  <a:cubicBezTo>
                    <a:pt x="12070080" y="9368155"/>
                    <a:pt x="9368155" y="12070080"/>
                    <a:pt x="6035040" y="12070080"/>
                  </a:cubicBezTo>
                  <a:cubicBezTo>
                    <a:pt x="2701925" y="12070080"/>
                    <a:pt x="0" y="9368155"/>
                    <a:pt x="0" y="603504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88780" y="6271965"/>
            <a:ext cx="6309360" cy="6309360"/>
            <a:chOff x="0" y="0"/>
            <a:chExt cx="8412480" cy="8412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12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4469" y="308610"/>
            <a:ext cx="123444" cy="2057400"/>
            <a:chOff x="0" y="0"/>
            <a:chExt cx="164592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" cy="2743200"/>
            </a:xfrm>
            <a:custGeom>
              <a:avLst/>
              <a:gdLst/>
              <a:ahLst/>
              <a:cxnLst/>
              <a:rect r="r" b="b" t="t" l="l"/>
              <a:pathLst>
                <a:path h="274320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3176" y="222847"/>
            <a:ext cx="14538960" cy="1303020"/>
            <a:chOff x="0" y="0"/>
            <a:chExt cx="19385280" cy="1737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85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12" r="0" b="-1674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3852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b="true" sz="63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24348" y="2013604"/>
            <a:ext cx="2891819" cy="3855758"/>
            <a:chOff x="0" y="0"/>
            <a:chExt cx="3855758" cy="51410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55720" cy="5140960"/>
            </a:xfrm>
            <a:custGeom>
              <a:avLst/>
              <a:gdLst/>
              <a:ahLst/>
              <a:cxnLst/>
              <a:rect r="r" b="b" t="t" l="l"/>
              <a:pathLst>
                <a:path h="5140960" w="3855720">
                  <a:moveTo>
                    <a:pt x="0" y="0"/>
                  </a:moveTo>
                  <a:lnTo>
                    <a:pt x="3855720" y="0"/>
                  </a:lnTo>
                  <a:lnTo>
                    <a:pt x="3855720" y="5140960"/>
                  </a:lnTo>
                  <a:lnTo>
                    <a:pt x="0" y="514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1847" y="3351219"/>
            <a:ext cx="2996851" cy="3855758"/>
            <a:chOff x="0" y="0"/>
            <a:chExt cx="3995801" cy="51410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95813" cy="5140998"/>
            </a:xfrm>
            <a:custGeom>
              <a:avLst/>
              <a:gdLst/>
              <a:ahLst/>
              <a:cxnLst/>
              <a:rect r="r" b="b" t="t" l="l"/>
              <a:pathLst>
                <a:path h="5140998" w="3995813">
                  <a:moveTo>
                    <a:pt x="0" y="0"/>
                  </a:moveTo>
                  <a:lnTo>
                    <a:pt x="3995813" y="0"/>
                  </a:lnTo>
                  <a:lnTo>
                    <a:pt x="3995813" y="5140998"/>
                  </a:lnTo>
                  <a:lnTo>
                    <a:pt x="0" y="5140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46" r="-6629" b="-665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067385" y="3351219"/>
            <a:ext cx="2891819" cy="3855758"/>
            <a:chOff x="0" y="0"/>
            <a:chExt cx="3855758" cy="51410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55720" cy="5140960"/>
            </a:xfrm>
            <a:custGeom>
              <a:avLst/>
              <a:gdLst/>
              <a:ahLst/>
              <a:cxnLst/>
              <a:rect r="r" b="b" t="t" l="l"/>
              <a:pathLst>
                <a:path h="5140960" w="3855720">
                  <a:moveTo>
                    <a:pt x="0" y="0"/>
                  </a:moveTo>
                  <a:lnTo>
                    <a:pt x="3855720" y="0"/>
                  </a:lnTo>
                  <a:lnTo>
                    <a:pt x="3855720" y="5140960"/>
                  </a:lnTo>
                  <a:lnTo>
                    <a:pt x="0" y="514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88" t="0" r="-38888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0049" y="1968798"/>
            <a:ext cx="2891819" cy="3855758"/>
            <a:chOff x="0" y="0"/>
            <a:chExt cx="3855758" cy="51410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55720" cy="5140960"/>
            </a:xfrm>
            <a:custGeom>
              <a:avLst/>
              <a:gdLst/>
              <a:ahLst/>
              <a:cxnLst/>
              <a:rect r="r" b="b" t="t" l="l"/>
              <a:pathLst>
                <a:path h="5140960" w="3855720">
                  <a:moveTo>
                    <a:pt x="0" y="0"/>
                  </a:moveTo>
                  <a:lnTo>
                    <a:pt x="3855720" y="0"/>
                  </a:lnTo>
                  <a:lnTo>
                    <a:pt x="3855720" y="5140960"/>
                  </a:lnTo>
                  <a:lnTo>
                    <a:pt x="0" y="5140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24348" y="5574182"/>
            <a:ext cx="2986049" cy="927201"/>
            <a:chOff x="0" y="0"/>
            <a:chExt cx="3981399" cy="12362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81404" cy="1236267"/>
            </a:xfrm>
            <a:custGeom>
              <a:avLst/>
              <a:gdLst/>
              <a:ahLst/>
              <a:cxnLst/>
              <a:rect r="r" b="b" t="t" l="l"/>
              <a:pathLst>
                <a:path h="1236267" w="3981404">
                  <a:moveTo>
                    <a:pt x="0" y="0"/>
                  </a:moveTo>
                  <a:lnTo>
                    <a:pt x="3981404" y="0"/>
                  </a:lnTo>
                  <a:lnTo>
                    <a:pt x="3981404" y="1236267"/>
                  </a:lnTo>
                  <a:lnTo>
                    <a:pt x="0" y="1236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1" r="0" b="-127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981399" cy="1236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Marwan Hassan Essa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65184" y="6971033"/>
            <a:ext cx="3616662" cy="927201"/>
            <a:chOff x="0" y="0"/>
            <a:chExt cx="4822215" cy="12362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22216" cy="1236267"/>
            </a:xfrm>
            <a:custGeom>
              <a:avLst/>
              <a:gdLst/>
              <a:ahLst/>
              <a:cxnLst/>
              <a:rect r="r" b="b" t="t" l="l"/>
              <a:pathLst>
                <a:path h="1236267" w="4822216">
                  <a:moveTo>
                    <a:pt x="0" y="0"/>
                  </a:moveTo>
                  <a:lnTo>
                    <a:pt x="4822216" y="0"/>
                  </a:lnTo>
                  <a:lnTo>
                    <a:pt x="4822216" y="1236267"/>
                  </a:lnTo>
                  <a:lnTo>
                    <a:pt x="0" y="1236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03" r="0" b="-260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822215" cy="1236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</a:t>
              </a: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eina Mostafa Ali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38298" y="6971033"/>
            <a:ext cx="2986049" cy="927201"/>
            <a:chOff x="0" y="0"/>
            <a:chExt cx="3981399" cy="12362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81404" cy="1236267"/>
            </a:xfrm>
            <a:custGeom>
              <a:avLst/>
              <a:gdLst/>
              <a:ahLst/>
              <a:cxnLst/>
              <a:rect r="r" b="b" t="t" l="l"/>
              <a:pathLst>
                <a:path h="1236267" w="3981404">
                  <a:moveTo>
                    <a:pt x="0" y="0"/>
                  </a:moveTo>
                  <a:lnTo>
                    <a:pt x="3981404" y="0"/>
                  </a:lnTo>
                  <a:lnTo>
                    <a:pt x="3981404" y="1236267"/>
                  </a:lnTo>
                  <a:lnTo>
                    <a:pt x="0" y="1236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1" r="0" b="-1275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981399" cy="1236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Ahmed </a:t>
              </a: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Mohamed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176" y="5603357"/>
            <a:ext cx="3469005" cy="927202"/>
            <a:chOff x="0" y="0"/>
            <a:chExt cx="4625340" cy="12362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25338" cy="1236268"/>
            </a:xfrm>
            <a:custGeom>
              <a:avLst/>
              <a:gdLst/>
              <a:ahLst/>
              <a:cxnLst/>
              <a:rect r="r" b="b" t="t" l="l"/>
              <a:pathLst>
                <a:path h="1236268" w="4625338">
                  <a:moveTo>
                    <a:pt x="0" y="0"/>
                  </a:moveTo>
                  <a:lnTo>
                    <a:pt x="4625338" y="0"/>
                  </a:lnTo>
                  <a:lnTo>
                    <a:pt x="4625338" y="1236268"/>
                  </a:lnTo>
                  <a:lnTo>
                    <a:pt x="0" y="12362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00" r="0" b="-229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625340" cy="1236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Abdulrahman AlShenawi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73836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5596053" cy="685800"/>
            <a:chOff x="0" y="0"/>
            <a:chExt cx="7461403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403" cy="914400"/>
            </a:xfrm>
            <a:custGeom>
              <a:avLst/>
              <a:gdLst/>
              <a:ahLst/>
              <a:cxnLst/>
              <a:rect r="r" b="b" t="t" l="l"/>
              <a:pathLst>
                <a:path h="914400" w="7461403">
                  <a:moveTo>
                    <a:pt x="0" y="0"/>
                  </a:moveTo>
                  <a:lnTo>
                    <a:pt x="7461403" y="0"/>
                  </a:lnTo>
                  <a:lnTo>
                    <a:pt x="746140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501" r="-202209" b="-430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461403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039" y="3419475"/>
            <a:ext cx="7700010" cy="4545330"/>
            <a:chOff x="0" y="0"/>
            <a:chExt cx="10266680" cy="6060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57884" y="3840480"/>
            <a:ext cx="7132320" cy="685800"/>
            <a:chOff x="0" y="0"/>
            <a:chExt cx="950976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Is Unpredictable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45491" y="4603614"/>
            <a:ext cx="1157106" cy="1157106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18" t="-3636" r="-181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09379" y="3419475"/>
            <a:ext cx="7700010" cy="4545330"/>
            <a:chOff x="0" y="0"/>
            <a:chExt cx="10266680" cy="6060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793224" y="3840480"/>
            <a:ext cx="7132320" cy="685800"/>
            <a:chOff x="0" y="0"/>
            <a:chExt cx="950976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097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Goal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11828" y="9820656"/>
            <a:ext cx="685800" cy="356616"/>
            <a:chOff x="0" y="0"/>
            <a:chExt cx="914400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14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18288057" cy="1569796"/>
            <a:chOff x="0" y="0"/>
            <a:chExt cx="24384076" cy="20930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039612" y="226946"/>
            <a:ext cx="5765292" cy="1282671"/>
            <a:chOff x="0" y="0"/>
            <a:chExt cx="7687056" cy="17102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7056" cy="1710228"/>
            </a:xfrm>
            <a:custGeom>
              <a:avLst/>
              <a:gdLst/>
              <a:ahLst/>
              <a:cxnLst/>
              <a:rect r="r" b="b" t="t" l="l"/>
              <a:pathLst>
                <a:path h="1710228" w="7687056">
                  <a:moveTo>
                    <a:pt x="0" y="0"/>
                  </a:moveTo>
                  <a:lnTo>
                    <a:pt x="7687056" y="0"/>
                  </a:lnTo>
                  <a:lnTo>
                    <a:pt x="7687056" y="1710228"/>
                  </a:lnTo>
                  <a:lnTo>
                    <a:pt x="0" y="171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47" r="-90325" b="-827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687056" cy="173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95044" y="6055995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Apps only show traffic in real-time — not ahead of time.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0384" y="6055995"/>
            <a:ext cx="6858000" cy="14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 traffic before you leave, not after you're stuck in it.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30077" y="4652860"/>
            <a:ext cx="1058613" cy="1058613"/>
            <a:chOff x="0" y="0"/>
            <a:chExt cx="128016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32" id="32"/>
          <p:cNvSpPr/>
          <p:nvPr/>
        </p:nvSpPr>
        <p:spPr>
          <a:xfrm rot="-7079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73836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6911828" cy="685800"/>
            <a:chOff x="0" y="0"/>
            <a:chExt cx="22549104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914400"/>
            </a:xfrm>
            <a:custGeom>
              <a:avLst/>
              <a:gdLst/>
              <a:ahLst/>
              <a:cxnLst/>
              <a:rect r="r" b="b" t="t" l="l"/>
              <a:pathLst>
                <a:path h="91440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501" r="0" b="-430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549104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039" y="3213735"/>
            <a:ext cx="5025390" cy="4956810"/>
            <a:chOff x="0" y="0"/>
            <a:chExt cx="6700520" cy="6609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0520" cy="6609080"/>
            </a:xfrm>
            <a:custGeom>
              <a:avLst/>
              <a:gdLst/>
              <a:ahLst/>
              <a:cxnLst/>
              <a:rect r="r" b="b" t="t" l="l"/>
              <a:pathLst>
                <a:path h="660908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57884" y="3634740"/>
            <a:ext cx="4457700" cy="685800"/>
            <a:chOff x="0" y="0"/>
            <a:chExt cx="59436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Input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35224" y="4251960"/>
            <a:ext cx="1303020" cy="13030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29019" y="3213735"/>
            <a:ext cx="5025390" cy="4956810"/>
            <a:chOff x="0" y="0"/>
            <a:chExt cx="6700520" cy="6609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6609080"/>
            </a:xfrm>
            <a:custGeom>
              <a:avLst/>
              <a:gdLst/>
              <a:ahLst/>
              <a:cxnLst/>
              <a:rect r="r" b="b" t="t" l="l"/>
              <a:pathLst>
                <a:path h="660908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12864" y="3634740"/>
            <a:ext cx="4457700" cy="685800"/>
            <a:chOff x="0" y="0"/>
            <a:chExt cx="5943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Behind the Scenes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93074" y="4320540"/>
            <a:ext cx="1097280" cy="109728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83999" y="3213735"/>
            <a:ext cx="5025390" cy="4956810"/>
            <a:chOff x="0" y="0"/>
            <a:chExt cx="6700520" cy="6609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00520" cy="6609080"/>
            </a:xfrm>
            <a:custGeom>
              <a:avLst/>
              <a:gdLst/>
              <a:ahLst/>
              <a:cxnLst/>
              <a:rect r="r" b="b" t="t" l="l"/>
              <a:pathLst>
                <a:path h="660908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467844" y="3634740"/>
            <a:ext cx="4457700" cy="685800"/>
            <a:chOff x="0" y="0"/>
            <a:chExt cx="59436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49959" y="4354830"/>
            <a:ext cx="1097280" cy="109728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95044" y="5850255"/>
            <a:ext cx="4183380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just enters a date and planned travel time.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50024" y="5850255"/>
            <a:ext cx="418338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handle the rest — weather and holidays — automatically.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05004" y="5850255"/>
            <a:ext cx="4183380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Predicted traffic for that hour, plus the 3 hours before it.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233056" y="143362"/>
            <a:ext cx="3817315" cy="1282671"/>
            <a:chOff x="0" y="0"/>
            <a:chExt cx="5089754" cy="17102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9754" cy="1710228"/>
            </a:xfrm>
            <a:custGeom>
              <a:avLst/>
              <a:gdLst/>
              <a:ahLst/>
              <a:cxnLst/>
              <a:rect r="r" b="b" t="t" l="l"/>
              <a:pathLst>
                <a:path h="1710228" w="5089754">
                  <a:moveTo>
                    <a:pt x="0" y="0"/>
                  </a:moveTo>
                  <a:lnTo>
                    <a:pt x="5089754" y="0"/>
                  </a:lnTo>
                  <a:lnTo>
                    <a:pt x="5089754" y="1710228"/>
                  </a:lnTo>
                  <a:lnTo>
                    <a:pt x="0" y="171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47" r="-187448" b="-827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089754" cy="173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IDEA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-7079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6911828" y="9820656"/>
            <a:ext cx="685800" cy="356616"/>
            <a:chOff x="0" y="0"/>
            <a:chExt cx="914400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14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73836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6911828" cy="685800"/>
            <a:chOff x="0" y="0"/>
            <a:chExt cx="22549104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914400"/>
            </a:xfrm>
            <a:custGeom>
              <a:avLst/>
              <a:gdLst/>
              <a:ahLst/>
              <a:cxnLst/>
              <a:rect r="r" b="b" t="t" l="l"/>
              <a:pathLst>
                <a:path h="91440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501" r="0" b="-430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549104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9719" y="2802255"/>
            <a:ext cx="3928110" cy="2076450"/>
            <a:chOff x="0" y="0"/>
            <a:chExt cx="52374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74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237480">
                  <a:moveTo>
                    <a:pt x="0" y="0"/>
                  </a:moveTo>
                  <a:lnTo>
                    <a:pt x="5237480" y="0"/>
                  </a:lnTo>
                  <a:lnTo>
                    <a:pt x="5237480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46404" y="3017520"/>
            <a:ext cx="3634740" cy="1131570"/>
            <a:chOff x="0" y="0"/>
            <a:chExt cx="4846320" cy="150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463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88" r="0" b="-125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846320" cy="15754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I-94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46404" y="4008120"/>
            <a:ext cx="363474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Minneapolis Area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51679" y="2802255"/>
            <a:ext cx="3928110" cy="2076450"/>
            <a:chOff x="0" y="0"/>
            <a:chExt cx="5237480" cy="276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374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237480">
                  <a:moveTo>
                    <a:pt x="0" y="0"/>
                  </a:moveTo>
                  <a:lnTo>
                    <a:pt x="5237480" y="0"/>
                  </a:lnTo>
                  <a:lnTo>
                    <a:pt x="5237480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98364" y="3017520"/>
            <a:ext cx="3634740" cy="1131570"/>
            <a:chOff x="0" y="0"/>
            <a:chExt cx="4846320" cy="1508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463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88" r="0" b="-1258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846320" cy="15754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~48,000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98364" y="4008120"/>
            <a:ext cx="363474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Hourly Records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03639" y="2802255"/>
            <a:ext cx="3928110" cy="2076450"/>
            <a:chOff x="0" y="0"/>
            <a:chExt cx="5237480" cy="276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4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237480">
                  <a:moveTo>
                    <a:pt x="0" y="0"/>
                  </a:moveTo>
                  <a:lnTo>
                    <a:pt x="5237480" y="0"/>
                  </a:lnTo>
                  <a:lnTo>
                    <a:pt x="5237480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50324" y="3017520"/>
            <a:ext cx="3634740" cy="1131570"/>
            <a:chOff x="0" y="0"/>
            <a:chExt cx="4846320" cy="150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463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88" r="0" b="-125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846320" cy="15754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2012–2018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450324" y="4008120"/>
            <a:ext cx="363474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Coverage Window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555599" y="2802255"/>
            <a:ext cx="3928110" cy="2076450"/>
            <a:chOff x="0" y="0"/>
            <a:chExt cx="5237480" cy="2768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374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237480">
                  <a:moveTo>
                    <a:pt x="0" y="0"/>
                  </a:moveTo>
                  <a:lnTo>
                    <a:pt x="5237480" y="0"/>
                  </a:lnTo>
                  <a:lnTo>
                    <a:pt x="5237480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02284" y="3017520"/>
            <a:ext cx="3634740" cy="1131570"/>
            <a:chOff x="0" y="0"/>
            <a:chExt cx="4846320" cy="150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463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88" r="0" b="-125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4846320" cy="157543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traffic_volume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702284" y="4008120"/>
            <a:ext cx="3634740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Target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5417820"/>
            <a:ext cx="16637508" cy="548640"/>
            <a:chOff x="0" y="0"/>
            <a:chExt cx="22183344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3344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0883" r="0" b="-54088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18334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 Used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6103620"/>
            <a:ext cx="16637508" cy="754380"/>
            <a:chOff x="0" y="0"/>
            <a:chExt cx="22183344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6103620"/>
            <a:ext cx="3291840" cy="754380"/>
            <a:chOff x="0" y="0"/>
            <a:chExt cx="438912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389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526280" y="6103620"/>
            <a:ext cx="12797028" cy="754380"/>
            <a:chOff x="0" y="0"/>
            <a:chExt cx="17062704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2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062704">
                  <a:moveTo>
                    <a:pt x="0" y="0"/>
                  </a:moveTo>
                  <a:lnTo>
                    <a:pt x="17062704" y="0"/>
                  </a:lnTo>
                  <a:lnTo>
                    <a:pt x="170627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0537" r="0" b="-2805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062704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temp, rain, snow, cloud cover, weather condition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6995160"/>
            <a:ext cx="16637508" cy="754380"/>
            <a:chOff x="0" y="0"/>
            <a:chExt cx="22183344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7280" y="6995160"/>
            <a:ext cx="3291840" cy="754380"/>
            <a:chOff x="0" y="0"/>
            <a:chExt cx="438912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389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26280" y="6995160"/>
            <a:ext cx="12797028" cy="754380"/>
            <a:chOff x="0" y="0"/>
            <a:chExt cx="17062704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062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062704">
                  <a:moveTo>
                    <a:pt x="0" y="0"/>
                  </a:moveTo>
                  <a:lnTo>
                    <a:pt x="17062704" y="0"/>
                  </a:lnTo>
                  <a:lnTo>
                    <a:pt x="170627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0537" r="0" b="-28053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7062704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timestamp, hour, day of week, month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7886700"/>
            <a:ext cx="16637508" cy="754380"/>
            <a:chOff x="0" y="0"/>
            <a:chExt cx="22183344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7280" y="7886700"/>
            <a:ext cx="3291840" cy="754380"/>
            <a:chOff x="0" y="0"/>
            <a:chExt cx="438912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389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26280" y="7886700"/>
            <a:ext cx="12797028" cy="754380"/>
            <a:chOff x="0" y="0"/>
            <a:chExt cx="17062704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2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062704">
                  <a:moveTo>
                    <a:pt x="0" y="0"/>
                  </a:moveTo>
                  <a:lnTo>
                    <a:pt x="17062704" y="0"/>
                  </a:lnTo>
                  <a:lnTo>
                    <a:pt x="170627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0537" r="0" b="-2805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7062704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categories, including "Not Holiday"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162805" y="143362"/>
            <a:ext cx="5633968" cy="1282671"/>
            <a:chOff x="0" y="0"/>
            <a:chExt cx="7511957" cy="17102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511957" cy="1710228"/>
            </a:xfrm>
            <a:custGeom>
              <a:avLst/>
              <a:gdLst/>
              <a:ahLst/>
              <a:cxnLst/>
              <a:rect r="r" b="b" t="t" l="l"/>
              <a:pathLst>
                <a:path h="1710228" w="7511957">
                  <a:moveTo>
                    <a:pt x="0" y="0"/>
                  </a:moveTo>
                  <a:lnTo>
                    <a:pt x="7511957" y="0"/>
                  </a:lnTo>
                  <a:lnTo>
                    <a:pt x="7511957" y="1710228"/>
                  </a:lnTo>
                  <a:lnTo>
                    <a:pt x="0" y="171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47" r="-94761" b="-8272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511957" cy="173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DATASET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-7079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6911828" y="9820656"/>
            <a:ext cx="685800" cy="356616"/>
            <a:chOff x="0" y="0"/>
            <a:chExt cx="914400" cy="475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14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73836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6911828" cy="685800"/>
            <a:chOff x="0" y="0"/>
            <a:chExt cx="22549104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914400"/>
            </a:xfrm>
            <a:custGeom>
              <a:avLst/>
              <a:gdLst/>
              <a:ahLst/>
              <a:cxnLst/>
              <a:rect r="r" b="b" t="t" l="l"/>
              <a:pathLst>
                <a:path h="91440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501" r="0" b="-430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549104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Issues Found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4039" y="3007995"/>
            <a:ext cx="5025390" cy="5368290"/>
            <a:chOff x="0" y="0"/>
            <a:chExt cx="6700520" cy="7157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05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7157720"/>
                  </a:lnTo>
                  <a:lnTo>
                    <a:pt x="0" y="7157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57884" y="3429000"/>
            <a:ext cx="4457700" cy="685800"/>
            <a:chOff x="0" y="0"/>
            <a:chExt cx="59436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 Timestamps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06674" y="4389120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29019" y="3007995"/>
            <a:ext cx="5025390" cy="5368290"/>
            <a:chOff x="0" y="0"/>
            <a:chExt cx="6700520" cy="7157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05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7157720"/>
                  </a:lnTo>
                  <a:lnTo>
                    <a:pt x="0" y="7157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912864" y="3429000"/>
            <a:ext cx="4457700" cy="685800"/>
            <a:chOff x="0" y="0"/>
            <a:chExt cx="5943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 Column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61654" y="4389120"/>
            <a:ext cx="960120" cy="96012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83999" y="3007995"/>
            <a:ext cx="5025390" cy="5368290"/>
            <a:chOff x="0" y="0"/>
            <a:chExt cx="6700520" cy="7157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005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7157720"/>
                  </a:lnTo>
                  <a:lnTo>
                    <a:pt x="0" y="7157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467844" y="3429000"/>
            <a:ext cx="4457700" cy="685800"/>
            <a:chOff x="0" y="0"/>
            <a:chExt cx="59436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Impossible Values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16634" y="438912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815584" y="155604"/>
            <a:ext cx="6699703" cy="1282671"/>
            <a:chOff x="0" y="0"/>
            <a:chExt cx="8932937" cy="17102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32937" cy="1710228"/>
            </a:xfrm>
            <a:custGeom>
              <a:avLst/>
              <a:gdLst/>
              <a:ahLst/>
              <a:cxnLst/>
              <a:rect r="r" b="b" t="t" l="l"/>
              <a:pathLst>
                <a:path h="1710228" w="8932937">
                  <a:moveTo>
                    <a:pt x="0" y="0"/>
                  </a:moveTo>
                  <a:lnTo>
                    <a:pt x="8932937" y="0"/>
                  </a:lnTo>
                  <a:lnTo>
                    <a:pt x="8932937" y="1710228"/>
                  </a:lnTo>
                  <a:lnTo>
                    <a:pt x="0" y="171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47" r="-63780" b="-827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8932937" cy="173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CLEANING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-7079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6911828" y="9820656"/>
            <a:ext cx="685800" cy="356616"/>
            <a:chOff x="0" y="0"/>
            <a:chExt cx="914400" cy="4754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14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95044" y="5644515"/>
            <a:ext cx="41833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Multiple weather entries per hour →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57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kept the worst scenario.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99826" y="5644515"/>
            <a:ext cx="488377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Only logged on the first hour of the day →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57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propagated across the full day.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05004" y="5644515"/>
            <a:ext cx="41833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 = 0K, rain = 9831 mm/h →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 b="true">
                <a:solidFill>
                  <a:srgbClr val="FF575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removed</a:t>
            </a: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738360"/>
            <a:ext cx="6858000" cy="411480"/>
            <a:chOff x="0" y="0"/>
            <a:chExt cx="9144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6911828" cy="685800"/>
            <a:chOff x="0" y="0"/>
            <a:chExt cx="22549104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914400"/>
            </a:xfrm>
            <a:custGeom>
              <a:avLst/>
              <a:gdLst/>
              <a:ahLst/>
              <a:cxnLst/>
              <a:rect r="r" b="b" t="t" l="l"/>
              <a:pathLst>
                <a:path h="91440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501" r="0" b="-430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549104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55914" y="2606040"/>
            <a:ext cx="1371600" cy="1371600"/>
            <a:chOff x="0" y="0"/>
            <a:chExt cx="1828800" cy="1828800"/>
          </a:xfrm>
        </p:grpSpPr>
        <p:sp>
          <p:nvSpPr>
            <p:cNvPr name="Freeform 9" id="9" descr="check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114800"/>
            <a:ext cx="18283428" cy="1371600"/>
            <a:chOff x="0" y="0"/>
            <a:chExt cx="24377904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2437790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F3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48,204 → 40,564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5417820"/>
            <a:ext cx="18283428" cy="685800"/>
            <a:chOff x="0" y="0"/>
            <a:chExt cx="24377904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471" r="0" b="-4694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37790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Clean, reliable rows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28869" y="6574155"/>
            <a:ext cx="7425690" cy="1184910"/>
            <a:chOff x="0" y="0"/>
            <a:chExt cx="9900920" cy="1579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0920" cy="1579880"/>
            </a:xfrm>
            <a:custGeom>
              <a:avLst/>
              <a:gdLst/>
              <a:ahLst/>
              <a:cxnLst/>
              <a:rect r="r" b="b" t="t" l="l"/>
              <a:pathLst>
                <a:path h="1579880" w="9900920">
                  <a:moveTo>
                    <a:pt x="0" y="0"/>
                  </a:moveTo>
                  <a:lnTo>
                    <a:pt x="9900920" y="0"/>
                  </a:lnTo>
                  <a:lnTo>
                    <a:pt x="990092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575554" y="6583680"/>
            <a:ext cx="7132320" cy="1165860"/>
            <a:chOff x="0" y="0"/>
            <a:chExt cx="950976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202" r="0" b="-692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09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57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Ready for EDA &amp; Modeling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032607" y="4207393"/>
            <a:ext cx="2558015" cy="2558015"/>
          </a:xfrm>
          <a:custGeom>
            <a:avLst/>
            <a:gdLst/>
            <a:ahLst/>
            <a:cxnLst/>
            <a:rect r="r" b="b" t="t" l="l"/>
            <a:pathLst>
              <a:path h="2558015" w="2558015">
                <a:moveTo>
                  <a:pt x="0" y="0"/>
                </a:moveTo>
                <a:lnTo>
                  <a:pt x="2558015" y="0"/>
                </a:lnTo>
                <a:lnTo>
                  <a:pt x="2558015" y="2558014"/>
                </a:lnTo>
                <a:lnTo>
                  <a:pt x="0" y="2558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815584" y="155604"/>
            <a:ext cx="6699703" cy="1282671"/>
            <a:chOff x="0" y="0"/>
            <a:chExt cx="8932937" cy="17102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32937" cy="1710228"/>
            </a:xfrm>
            <a:custGeom>
              <a:avLst/>
              <a:gdLst/>
              <a:ahLst/>
              <a:cxnLst/>
              <a:rect r="r" b="b" t="t" l="l"/>
              <a:pathLst>
                <a:path h="1710228" w="8932937">
                  <a:moveTo>
                    <a:pt x="0" y="0"/>
                  </a:moveTo>
                  <a:lnTo>
                    <a:pt x="8932937" y="0"/>
                  </a:lnTo>
                  <a:lnTo>
                    <a:pt x="8932937" y="1710228"/>
                  </a:lnTo>
                  <a:lnTo>
                    <a:pt x="0" y="171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47" r="-63780" b="-8272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932937" cy="173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CLEANING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911828" y="9820656"/>
            <a:ext cx="685800" cy="356616"/>
            <a:chOff x="0" y="0"/>
            <a:chExt cx="914400" cy="4754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475488"/>
            </a:xfrm>
            <a:custGeom>
              <a:avLst/>
              <a:gdLst/>
              <a:ahLst/>
              <a:cxnLst/>
              <a:rect r="r" b="b" t="t" l="l"/>
              <a:pathLst>
                <a:path h="47548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14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-7079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6911828" y="1569596"/>
            <a:ext cx="1280206" cy="1280206"/>
          </a:xfrm>
          <a:custGeom>
            <a:avLst/>
            <a:gdLst/>
            <a:ahLst/>
            <a:cxnLst/>
            <a:rect r="r" b="b" t="t" l="l"/>
            <a:pathLst>
              <a:path h="1280206" w="1280206">
                <a:moveTo>
                  <a:pt x="0" y="0"/>
                </a:moveTo>
                <a:lnTo>
                  <a:pt x="1280206" y="0"/>
                </a:lnTo>
                <a:lnTo>
                  <a:pt x="1280206" y="1280206"/>
                </a:lnTo>
                <a:lnTo>
                  <a:pt x="0" y="128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943771"/>
            <a:ext cx="5409259" cy="616460"/>
            <a:chOff x="0" y="0"/>
            <a:chExt cx="7212346" cy="821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12347" cy="821946"/>
            </a:xfrm>
            <a:custGeom>
              <a:avLst/>
              <a:gdLst/>
              <a:ahLst/>
              <a:cxnLst/>
              <a:rect r="r" b="b" t="t" l="l"/>
              <a:pathLst>
                <a:path h="821946" w="7212347">
                  <a:moveTo>
                    <a:pt x="0" y="0"/>
                  </a:moveTo>
                  <a:lnTo>
                    <a:pt x="7212347" y="0"/>
                  </a:lnTo>
                  <a:lnTo>
                    <a:pt x="7212347" y="821946"/>
                  </a:lnTo>
                  <a:lnTo>
                    <a:pt x="0" y="8219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99" r="-3961" b="-1088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212346" cy="831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599"/>
                </a:lnSpc>
              </a:pPr>
              <a:r>
                <a:rPr lang="en-US" sz="2999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Target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077464"/>
            <a:ext cx="5409259" cy="962676"/>
            <a:chOff x="0" y="0"/>
            <a:chExt cx="7212346" cy="12835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2347" cy="1283568"/>
            </a:xfrm>
            <a:custGeom>
              <a:avLst/>
              <a:gdLst/>
              <a:ahLst/>
              <a:cxnLst/>
              <a:rect r="r" b="b" t="t" l="l"/>
              <a:pathLst>
                <a:path h="1283568" w="7212347">
                  <a:moveTo>
                    <a:pt x="0" y="0"/>
                  </a:moveTo>
                  <a:lnTo>
                    <a:pt x="7212347" y="0"/>
                  </a:lnTo>
                  <a:lnTo>
                    <a:pt x="7212347" y="1283568"/>
                  </a:lnTo>
                  <a:lnTo>
                    <a:pt x="0" y="12835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76" r="-3961" b="-337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212346" cy="1293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Time Patterns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90962"/>
            <a:ext cx="5409259" cy="876118"/>
            <a:chOff x="0" y="0"/>
            <a:chExt cx="7212346" cy="11681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2347" cy="1168158"/>
            </a:xfrm>
            <a:custGeom>
              <a:avLst/>
              <a:gdLst/>
              <a:ahLst/>
              <a:cxnLst/>
              <a:rect r="r" b="b" t="t" l="l"/>
              <a:pathLst>
                <a:path h="1168158" w="7212347">
                  <a:moveTo>
                    <a:pt x="0" y="0"/>
                  </a:moveTo>
                  <a:lnTo>
                    <a:pt x="7212347" y="0"/>
                  </a:lnTo>
                  <a:lnTo>
                    <a:pt x="7212347" y="1168158"/>
                  </a:lnTo>
                  <a:lnTo>
                    <a:pt x="0" y="1168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51" r="-3961" b="-469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212346" cy="1177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External Factors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" y="6968291"/>
            <a:ext cx="5409259" cy="876118"/>
            <a:chOff x="0" y="0"/>
            <a:chExt cx="7212346" cy="11681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12347" cy="1168158"/>
            </a:xfrm>
            <a:custGeom>
              <a:avLst/>
              <a:gdLst/>
              <a:ahLst/>
              <a:cxnLst/>
              <a:rect r="r" b="b" t="t" l="l"/>
              <a:pathLst>
                <a:path h="1168158" w="7212347">
                  <a:moveTo>
                    <a:pt x="0" y="0"/>
                  </a:moveTo>
                  <a:lnTo>
                    <a:pt x="7212347" y="0"/>
                  </a:lnTo>
                  <a:lnTo>
                    <a:pt x="7212347" y="1168158"/>
                  </a:lnTo>
                  <a:lnTo>
                    <a:pt x="0" y="1168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51" r="-3961" b="-469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212346" cy="1177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Feature Relationships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8106" y="3592447"/>
            <a:ext cx="10402142" cy="1713267"/>
            <a:chOff x="0" y="0"/>
            <a:chExt cx="13869523" cy="22843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69524" cy="2284357"/>
            </a:xfrm>
            <a:custGeom>
              <a:avLst/>
              <a:gdLst/>
              <a:ahLst/>
              <a:cxnLst/>
              <a:rect r="r" b="b" t="t" l="l"/>
              <a:pathLst>
                <a:path h="2284357" w="13869524">
                  <a:moveTo>
                    <a:pt x="0" y="0"/>
                  </a:moveTo>
                  <a:lnTo>
                    <a:pt x="13869524" y="0"/>
                  </a:lnTo>
                  <a:lnTo>
                    <a:pt x="13869524" y="2284357"/>
                  </a:lnTo>
                  <a:lnTo>
                    <a:pt x="0" y="22843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48" r="45938" b="248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3869523" cy="2303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does traffic volume change throughout the day?</a:t>
              </a:r>
            </a:p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Does traffic volume follow a weekly pattern?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08106" y="6029071"/>
            <a:ext cx="10402142" cy="1410964"/>
            <a:chOff x="0" y="0"/>
            <a:chExt cx="13869523" cy="18812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869524" cy="1881286"/>
            </a:xfrm>
            <a:custGeom>
              <a:avLst/>
              <a:gdLst/>
              <a:ahLst/>
              <a:cxnLst/>
              <a:rect r="r" b="b" t="t" l="l"/>
              <a:pathLst>
                <a:path h="1881286" w="13869524">
                  <a:moveTo>
                    <a:pt x="0" y="0"/>
                  </a:moveTo>
                  <a:lnTo>
                    <a:pt x="13869524" y="0"/>
                  </a:lnTo>
                  <a:lnTo>
                    <a:pt x="13869524" y="1881286"/>
                  </a:lnTo>
                  <a:lnTo>
                    <a:pt x="0" y="18812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50" r="45938" b="87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3869523" cy="1900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 holidays affect traffic volume?</a:t>
              </a:r>
            </a:p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much does weather affect traffic volume?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08106" y="7844410"/>
            <a:ext cx="14625068" cy="1410964"/>
            <a:chOff x="0" y="0"/>
            <a:chExt cx="19500090" cy="18812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0090" cy="1881286"/>
            </a:xfrm>
            <a:custGeom>
              <a:avLst/>
              <a:gdLst/>
              <a:ahLst/>
              <a:cxnLst/>
              <a:rect r="r" b="b" t="t" l="l"/>
              <a:pathLst>
                <a:path h="1881286" w="19500090">
                  <a:moveTo>
                    <a:pt x="0" y="0"/>
                  </a:moveTo>
                  <a:lnTo>
                    <a:pt x="19500090" y="0"/>
                  </a:lnTo>
                  <a:lnTo>
                    <a:pt x="19500090" y="1881286"/>
                  </a:lnTo>
                  <a:lnTo>
                    <a:pt x="0" y="18812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50" r="61548" b="87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9500090" cy="1900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Which available features have the strongest relationship with traffic volume?</a:t>
              </a:r>
            </a:p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Are there strong relationships between the input features themselves?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08106" y="2581532"/>
            <a:ext cx="10402142" cy="991864"/>
            <a:chOff x="0" y="0"/>
            <a:chExt cx="13869523" cy="13224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869524" cy="1322486"/>
            </a:xfrm>
            <a:custGeom>
              <a:avLst/>
              <a:gdLst/>
              <a:ahLst/>
              <a:cxnLst/>
              <a:rect r="r" b="b" t="t" l="l"/>
              <a:pathLst>
                <a:path h="1322486" w="13869524">
                  <a:moveTo>
                    <a:pt x="0" y="0"/>
                  </a:moveTo>
                  <a:lnTo>
                    <a:pt x="13869524" y="0"/>
                  </a:lnTo>
                  <a:lnTo>
                    <a:pt x="13869524" y="1322486"/>
                  </a:lnTo>
                  <a:lnTo>
                    <a:pt x="0" y="132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114" r="45938" b="-298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3869523" cy="134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604518" indent="-302259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does the distribution of traffic volume look like?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420192" y="0"/>
            <a:ext cx="13552414" cy="1752025"/>
            <a:chOff x="0" y="0"/>
            <a:chExt cx="18069886" cy="23360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069886" cy="2336033"/>
            </a:xfrm>
            <a:custGeom>
              <a:avLst/>
              <a:gdLst/>
              <a:ahLst/>
              <a:cxnLst/>
              <a:rect r="r" b="b" t="t" l="l"/>
              <a:pathLst>
                <a:path h="2336033" w="18069886">
                  <a:moveTo>
                    <a:pt x="0" y="0"/>
                  </a:moveTo>
                  <a:lnTo>
                    <a:pt x="18069886" y="0"/>
                  </a:lnTo>
                  <a:lnTo>
                    <a:pt x="18069886" y="2336033"/>
                  </a:lnTo>
                  <a:lnTo>
                    <a:pt x="0" y="2336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90" r="19034" b="-337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8069886" cy="2364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480"/>
                </a:lnSpc>
                <a:spcBef>
                  <a:spcPct val="0"/>
                </a:spcBef>
              </a:pPr>
              <a:r>
                <a:rPr lang="en-US" b="true" sz="5400" spc="300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EXPLORATORY DATA ANALYSIS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20192" y="0"/>
            <a:ext cx="13552414" cy="1752025"/>
            <a:chOff x="0" y="0"/>
            <a:chExt cx="18069886" cy="23360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69886" cy="2336033"/>
            </a:xfrm>
            <a:custGeom>
              <a:avLst/>
              <a:gdLst/>
              <a:ahLst/>
              <a:cxnLst/>
              <a:rect r="r" b="b" t="t" l="l"/>
              <a:pathLst>
                <a:path h="2336033" w="18069886">
                  <a:moveTo>
                    <a:pt x="0" y="0"/>
                  </a:moveTo>
                  <a:lnTo>
                    <a:pt x="18069886" y="0"/>
                  </a:lnTo>
                  <a:lnTo>
                    <a:pt x="18069886" y="2336033"/>
                  </a:lnTo>
                  <a:lnTo>
                    <a:pt x="0" y="2336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90" r="19034" b="-337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069886" cy="2364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480"/>
                </a:lnSpc>
                <a:spcBef>
                  <a:spcPct val="0"/>
                </a:spcBef>
              </a:pPr>
              <a:r>
                <a:rPr lang="en-US" b="true" sz="5400" spc="300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EXPLORATORY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659636"/>
            <a:ext cx="16911828" cy="850392"/>
            <a:chOff x="0" y="0"/>
            <a:chExt cx="22549104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 – Temporal Traffic Patterns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56616" y="1357884"/>
            <a:ext cx="12508992" cy="839419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1306175" y="2527935"/>
            <a:ext cx="6300978" cy="1870710"/>
            <a:chOff x="0" y="0"/>
            <a:chExt cx="8401304" cy="2494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01303" cy="2494280"/>
            </a:xfrm>
            <a:custGeom>
              <a:avLst/>
              <a:gdLst/>
              <a:ahLst/>
              <a:cxnLst/>
              <a:rect r="r" b="b" t="t" l="l"/>
              <a:pathLst>
                <a:path h="2494280" w="8401303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8290433" y="0"/>
                  </a:lnTo>
                  <a:cubicBezTo>
                    <a:pt x="8351647" y="0"/>
                    <a:pt x="8401303" y="49657"/>
                    <a:pt x="8401303" y="110871"/>
                  </a:cubicBezTo>
                  <a:lnTo>
                    <a:pt x="8401303" y="2383409"/>
                  </a:lnTo>
                  <a:cubicBezTo>
                    <a:pt x="8401303" y="2444623"/>
                    <a:pt x="8351647" y="2494280"/>
                    <a:pt x="8290433" y="2494280"/>
                  </a:cubicBezTo>
                  <a:lnTo>
                    <a:pt x="110871" y="2494280"/>
                  </a:lnTo>
                  <a:cubicBezTo>
                    <a:pt x="49657" y="2494280"/>
                    <a:pt x="0" y="2444623"/>
                    <a:pt x="0" y="2383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0" y="2702052"/>
            <a:ext cx="5623560" cy="384048"/>
            <a:chOff x="0" y="0"/>
            <a:chExt cx="749808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4980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Peak at 4 PM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0" y="3140964"/>
            <a:ext cx="5623560" cy="1097280"/>
            <a:chOff x="0" y="0"/>
            <a:chExt cx="749808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980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16:00 averages 5,709 vehicles/hour — the single busiest hour in six years of data.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06175" y="4585335"/>
            <a:ext cx="6300978" cy="1870710"/>
            <a:chOff x="0" y="0"/>
            <a:chExt cx="8401304" cy="2494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01303" cy="2494280"/>
            </a:xfrm>
            <a:custGeom>
              <a:avLst/>
              <a:gdLst/>
              <a:ahLst/>
              <a:cxnLst/>
              <a:rect r="r" b="b" t="t" l="l"/>
              <a:pathLst>
                <a:path h="2494280" w="8401303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8290433" y="0"/>
                  </a:lnTo>
                  <a:cubicBezTo>
                    <a:pt x="8351647" y="0"/>
                    <a:pt x="8401303" y="49657"/>
                    <a:pt x="8401303" y="110871"/>
                  </a:cubicBezTo>
                  <a:lnTo>
                    <a:pt x="8401303" y="2383409"/>
                  </a:lnTo>
                  <a:cubicBezTo>
                    <a:pt x="8401303" y="2444623"/>
                    <a:pt x="8351647" y="2494280"/>
                    <a:pt x="8290433" y="2494280"/>
                  </a:cubicBezTo>
                  <a:lnTo>
                    <a:pt x="110871" y="2494280"/>
                  </a:lnTo>
                  <a:cubicBezTo>
                    <a:pt x="49657" y="2494280"/>
                    <a:pt x="0" y="2444623"/>
                    <a:pt x="0" y="2383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0" y="4759452"/>
            <a:ext cx="5623560" cy="384048"/>
            <a:chOff x="0" y="0"/>
            <a:chExt cx="749808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4980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Trough at 3 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58600" y="5198364"/>
            <a:ext cx="5623560" cy="1097280"/>
            <a:chOff x="0" y="0"/>
            <a:chExt cx="749808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98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4980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03:00 averages just 373 vehicles/hour: a 15x difference from the peak.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06175" y="6642735"/>
            <a:ext cx="6300978" cy="1870710"/>
            <a:chOff x="0" y="0"/>
            <a:chExt cx="8401304" cy="2494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01303" cy="2494280"/>
            </a:xfrm>
            <a:custGeom>
              <a:avLst/>
              <a:gdLst/>
              <a:ahLst/>
              <a:cxnLst/>
              <a:rect r="r" b="b" t="t" l="l"/>
              <a:pathLst>
                <a:path h="2494280" w="8401303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8290433" y="0"/>
                  </a:lnTo>
                  <a:cubicBezTo>
                    <a:pt x="8351647" y="0"/>
                    <a:pt x="8401303" y="49657"/>
                    <a:pt x="8401303" y="110871"/>
                  </a:cubicBezTo>
                  <a:lnTo>
                    <a:pt x="8401303" y="2383409"/>
                  </a:lnTo>
                  <a:cubicBezTo>
                    <a:pt x="8401303" y="2444623"/>
                    <a:pt x="8351647" y="2494280"/>
                    <a:pt x="8290433" y="2494280"/>
                  </a:cubicBezTo>
                  <a:lnTo>
                    <a:pt x="110871" y="2494280"/>
                  </a:lnTo>
                  <a:cubicBezTo>
                    <a:pt x="49657" y="2494280"/>
                    <a:pt x="0" y="2444623"/>
                    <a:pt x="0" y="2383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0" y="6816852"/>
            <a:ext cx="5623560" cy="384048"/>
            <a:chOff x="0" y="0"/>
            <a:chExt cx="749808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4980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Weekday vs Weekend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0" y="7255764"/>
            <a:ext cx="5623560" cy="1097280"/>
            <a:chOff x="0" y="0"/>
            <a:chExt cx="749808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98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49808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1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Weekdays average 3,558 veh/hr versus 2,625 on weekends — a 26% drop.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6344" y="1673571"/>
            <a:ext cx="16911828" cy="850392"/>
            <a:chOff x="0" y="0"/>
            <a:chExt cx="22549104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 – Weather &amp; Holiday Impact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7160" y="1577340"/>
            <a:ext cx="9875520" cy="795528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52424" y="1302819"/>
            <a:ext cx="9551380" cy="7714577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685800" y="8522980"/>
            <a:ext cx="16911828" cy="822960"/>
            <a:chOff x="0" y="0"/>
            <a:chExt cx="2254910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54910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b="true" sz="1800" i="true">
                  <a:solidFill>
                    <a:srgbClr val="00000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Counter-intuitive finding: cloudy and rainy hours show slightly higher average volume than clear ones — likely because clear skies also occur more often overnight, not a causal weather effect. Holidays, by contrast, show a large and consistent drop.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420192" y="0"/>
            <a:ext cx="13552414" cy="1752025"/>
            <a:chOff x="0" y="0"/>
            <a:chExt cx="18069886" cy="23360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69886" cy="2336033"/>
            </a:xfrm>
            <a:custGeom>
              <a:avLst/>
              <a:gdLst/>
              <a:ahLst/>
              <a:cxnLst/>
              <a:rect r="r" b="b" t="t" l="l"/>
              <a:pathLst>
                <a:path h="2336033" w="18069886">
                  <a:moveTo>
                    <a:pt x="0" y="0"/>
                  </a:moveTo>
                  <a:lnTo>
                    <a:pt x="18069886" y="0"/>
                  </a:lnTo>
                  <a:lnTo>
                    <a:pt x="18069886" y="2336033"/>
                  </a:lnTo>
                  <a:lnTo>
                    <a:pt x="0" y="2336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90" r="19034" b="-337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8069886" cy="2364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480"/>
                </a:lnSpc>
                <a:spcBef>
                  <a:spcPct val="0"/>
                </a:spcBef>
              </a:pPr>
              <a:r>
                <a:rPr lang="en-US" b="true" sz="5400" spc="300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EXPLORATORY DATA ANALYSIS</a:t>
              </a:r>
            </a:p>
          </p:txBody>
        </p:sp>
      </p:grpSp>
    </p:spTree>
  </p:cSld>
  <p:clrMapOvr>
    <a:masterClrMapping/>
  </p:clrMapOvr>
  <p:transition spd="fast">
    <p:wipe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6344" y="1673571"/>
            <a:ext cx="16911828" cy="850392"/>
            <a:chOff x="0" y="0"/>
            <a:chExt cx="22549104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 – Feature Relationships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30853" y="1651453"/>
            <a:ext cx="10619278" cy="7537391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685800" y="8522980"/>
            <a:ext cx="16911828" cy="822960"/>
            <a:chOff x="0" y="0"/>
            <a:chExt cx="22549104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549104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1999" i="true">
                  <a:solidFill>
                    <a:srgbClr val="00000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Time is the strongest signal, while most other features show weak relationships with traffic volume.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509821" y="2457792"/>
            <a:ext cx="7087807" cy="6065188"/>
          </a:xfrm>
          <a:custGeom>
            <a:avLst/>
            <a:gdLst/>
            <a:ahLst/>
            <a:cxnLst/>
            <a:rect r="r" b="b" t="t" l="l"/>
            <a:pathLst>
              <a:path h="6065188" w="7087807">
                <a:moveTo>
                  <a:pt x="0" y="0"/>
                </a:moveTo>
                <a:lnTo>
                  <a:pt x="7087807" y="0"/>
                </a:lnTo>
                <a:lnTo>
                  <a:pt x="7087807" y="6065188"/>
                </a:lnTo>
                <a:lnTo>
                  <a:pt x="0" y="6065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420192" y="0"/>
            <a:ext cx="13552414" cy="1752025"/>
            <a:chOff x="0" y="0"/>
            <a:chExt cx="18069886" cy="23360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69886" cy="2336033"/>
            </a:xfrm>
            <a:custGeom>
              <a:avLst/>
              <a:gdLst/>
              <a:ahLst/>
              <a:cxnLst/>
              <a:rect r="r" b="b" t="t" l="l"/>
              <a:pathLst>
                <a:path h="2336033" w="18069886">
                  <a:moveTo>
                    <a:pt x="0" y="0"/>
                  </a:moveTo>
                  <a:lnTo>
                    <a:pt x="18069886" y="0"/>
                  </a:lnTo>
                  <a:lnTo>
                    <a:pt x="18069886" y="2336033"/>
                  </a:lnTo>
                  <a:lnTo>
                    <a:pt x="0" y="2336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90" r="19034" b="-337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8069886" cy="2364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6480"/>
                </a:lnSpc>
                <a:spcBef>
                  <a:spcPct val="0"/>
                </a:spcBef>
              </a:pPr>
              <a:r>
                <a:rPr lang="en-US" b="true" sz="5400" spc="300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EXPLORATORY DATA ANALYSIS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1484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55467" y="165662"/>
            <a:ext cx="7936870" cy="1115504"/>
            <a:chOff x="0" y="0"/>
            <a:chExt cx="10582494" cy="1487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82494" cy="1487339"/>
            </a:xfrm>
            <a:custGeom>
              <a:avLst/>
              <a:gdLst/>
              <a:ahLst/>
              <a:cxnLst/>
              <a:rect r="r" b="b" t="t" l="l"/>
              <a:pathLst>
                <a:path h="1487339" w="10582494">
                  <a:moveTo>
                    <a:pt x="0" y="0"/>
                  </a:moveTo>
                  <a:lnTo>
                    <a:pt x="10582494" y="0"/>
                  </a:lnTo>
                  <a:lnTo>
                    <a:pt x="10582494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38250" b="-1101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582494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PREPARATION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7988" y="1538992"/>
            <a:ext cx="16911828" cy="850392"/>
            <a:chOff x="0" y="0"/>
            <a:chExt cx="22549104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Engineering &amp; Preparation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6275" y="2390775"/>
            <a:ext cx="4924806" cy="3516630"/>
            <a:chOff x="0" y="0"/>
            <a:chExt cx="6566408" cy="4688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66408" cy="4688840"/>
            </a:xfrm>
            <a:custGeom>
              <a:avLst/>
              <a:gdLst/>
              <a:ahLst/>
              <a:cxnLst/>
              <a:rect r="r" b="b" t="t" l="l"/>
              <a:pathLst>
                <a:path h="4688840" w="6566408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6419342" y="0"/>
                  </a:lnTo>
                  <a:cubicBezTo>
                    <a:pt x="6500622" y="0"/>
                    <a:pt x="6566408" y="65913"/>
                    <a:pt x="6566408" y="147066"/>
                  </a:cubicBezTo>
                  <a:lnTo>
                    <a:pt x="6566408" y="4541774"/>
                  </a:lnTo>
                  <a:cubicBezTo>
                    <a:pt x="6566408" y="4623054"/>
                    <a:pt x="6500495" y="4688840"/>
                    <a:pt x="6419342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42416" y="2729484"/>
            <a:ext cx="4192524" cy="754380"/>
            <a:chOff x="0" y="0"/>
            <a:chExt cx="5590032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900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590032">
                  <a:moveTo>
                    <a:pt x="0" y="0"/>
                  </a:moveTo>
                  <a:lnTo>
                    <a:pt x="5590032" y="0"/>
                  </a:lnTo>
                  <a:lnTo>
                    <a:pt x="55900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89" r="0" b="-582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59003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0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Cyclical Encoding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3703320"/>
            <a:ext cx="4219956" cy="1988820"/>
            <a:chOff x="0" y="0"/>
            <a:chExt cx="5626608" cy="2651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26608" cy="2651760"/>
            </a:xfrm>
            <a:custGeom>
              <a:avLst/>
              <a:gdLst/>
              <a:ahLst/>
              <a:cxnLst/>
              <a:rect r="r" b="b" t="t" l="l"/>
              <a:pathLst>
                <a:path h="265176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8" t="0" r="-104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626608" cy="2708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hour_sin / hour_cos and month_sin / month_cos preserve wrap-around continuity that a raw integer would break.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93511" y="2390775"/>
            <a:ext cx="4924806" cy="3516630"/>
            <a:chOff x="0" y="0"/>
            <a:chExt cx="6566408" cy="4688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66408" cy="4688840"/>
            </a:xfrm>
            <a:custGeom>
              <a:avLst/>
              <a:gdLst/>
              <a:ahLst/>
              <a:cxnLst/>
              <a:rect r="r" b="b" t="t" l="l"/>
              <a:pathLst>
                <a:path h="4688840" w="6566408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6419342" y="0"/>
                  </a:lnTo>
                  <a:cubicBezTo>
                    <a:pt x="6500622" y="0"/>
                    <a:pt x="6566408" y="65913"/>
                    <a:pt x="6566408" y="147066"/>
                  </a:cubicBezTo>
                  <a:lnTo>
                    <a:pt x="6566408" y="4541774"/>
                  </a:lnTo>
                  <a:cubicBezTo>
                    <a:pt x="6566408" y="4623054"/>
                    <a:pt x="6500495" y="4688840"/>
                    <a:pt x="6419342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359652" y="2729484"/>
            <a:ext cx="4192524" cy="754380"/>
            <a:chOff x="0" y="0"/>
            <a:chExt cx="5590032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900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590032">
                  <a:moveTo>
                    <a:pt x="0" y="0"/>
                  </a:moveTo>
                  <a:lnTo>
                    <a:pt x="5590032" y="0"/>
                  </a:lnTo>
                  <a:lnTo>
                    <a:pt x="55900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89" r="0" b="-582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59003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0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Categorical Encoding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59652" y="3703320"/>
            <a:ext cx="4219956" cy="1988820"/>
            <a:chOff x="0" y="0"/>
            <a:chExt cx="5626608" cy="2651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26608" cy="2651760"/>
            </a:xfrm>
            <a:custGeom>
              <a:avLst/>
              <a:gdLst/>
              <a:ahLst/>
              <a:cxnLst/>
              <a:rect r="r" b="b" t="t" l="l"/>
              <a:pathLst>
                <a:path h="265176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8" t="0" r="-1046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626608" cy="2708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One-hot encoding for weather_main (11 conditions) and a binary flag for the 12-category holiday field.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10747" y="2390775"/>
            <a:ext cx="4924806" cy="3516630"/>
            <a:chOff x="0" y="0"/>
            <a:chExt cx="6566408" cy="4688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66408" cy="4688840"/>
            </a:xfrm>
            <a:custGeom>
              <a:avLst/>
              <a:gdLst/>
              <a:ahLst/>
              <a:cxnLst/>
              <a:rect r="r" b="b" t="t" l="l"/>
              <a:pathLst>
                <a:path h="4688840" w="6566408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6419342" y="0"/>
                  </a:lnTo>
                  <a:cubicBezTo>
                    <a:pt x="6500622" y="0"/>
                    <a:pt x="6566408" y="65913"/>
                    <a:pt x="6566408" y="147066"/>
                  </a:cubicBezTo>
                  <a:lnTo>
                    <a:pt x="6566408" y="4541774"/>
                  </a:lnTo>
                  <a:cubicBezTo>
                    <a:pt x="6566408" y="4623054"/>
                    <a:pt x="6500495" y="4688840"/>
                    <a:pt x="6419342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676888" y="2729484"/>
            <a:ext cx="4192524" cy="754380"/>
            <a:chOff x="0" y="0"/>
            <a:chExt cx="5590032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900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590032">
                  <a:moveTo>
                    <a:pt x="0" y="0"/>
                  </a:moveTo>
                  <a:lnTo>
                    <a:pt x="5590032" y="0"/>
                  </a:lnTo>
                  <a:lnTo>
                    <a:pt x="55900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89" r="0" b="-582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590032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0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Scaling &amp; Splitting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76888" y="3703320"/>
            <a:ext cx="4219956" cy="1988820"/>
            <a:chOff x="0" y="0"/>
            <a:chExt cx="5626608" cy="2651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26608" cy="2651760"/>
            </a:xfrm>
            <a:custGeom>
              <a:avLst/>
              <a:gdLst/>
              <a:ahLst/>
              <a:cxnLst/>
              <a:rect r="r" b="b" t="t" l="l"/>
              <a:pathLst>
                <a:path h="2651760" w="5626608">
                  <a:moveTo>
                    <a:pt x="0" y="0"/>
                  </a:moveTo>
                  <a:lnTo>
                    <a:pt x="5626608" y="0"/>
                  </a:lnTo>
                  <a:lnTo>
                    <a:pt x="5626608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68" t="0" r="-1046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626608" cy="2708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Numeric regressors scaled; a strict time-based split keeps 2018 fully held out from training.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" y="6703152"/>
            <a:ext cx="9866376" cy="419852"/>
            <a:chOff x="0" y="0"/>
            <a:chExt cx="13155168" cy="5598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155168" cy="559798"/>
            </a:xfrm>
            <a:custGeom>
              <a:avLst/>
              <a:gdLst/>
              <a:ahLst/>
              <a:cxnLst/>
              <a:rect r="r" b="b" t="t" l="l"/>
              <a:pathLst>
                <a:path h="559798" w="13155168">
                  <a:moveTo>
                    <a:pt x="0" y="0"/>
                  </a:moveTo>
                  <a:lnTo>
                    <a:pt x="13155168" y="0"/>
                  </a:lnTo>
                  <a:lnTo>
                    <a:pt x="13155168" y="559798"/>
                  </a:lnTo>
                  <a:lnTo>
                    <a:pt x="0" y="5597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4" r="0" b="-4078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3155168" cy="578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25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TIME-BASED SPLIT (ACTUAL ROW COUNTS)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0664" y="7626096"/>
            <a:ext cx="14133243" cy="754380"/>
            <a:chOff x="0" y="0"/>
            <a:chExt cx="188443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844388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844388">
                  <a:moveTo>
                    <a:pt x="0" y="0"/>
                  </a:moveTo>
                  <a:lnTo>
                    <a:pt x="18844388" y="0"/>
                  </a:lnTo>
                  <a:lnTo>
                    <a:pt x="18844388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46404" y="7694676"/>
            <a:ext cx="13776627" cy="384048"/>
            <a:chOff x="0" y="0"/>
            <a:chExt cx="18368836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68838" cy="512064"/>
            </a:xfrm>
            <a:custGeom>
              <a:avLst/>
              <a:gdLst/>
              <a:ahLst/>
              <a:cxnLst/>
              <a:rect r="r" b="b" t="t" l="l"/>
              <a:pathLst>
                <a:path h="512064" w="18368838">
                  <a:moveTo>
                    <a:pt x="0" y="0"/>
                  </a:moveTo>
                  <a:lnTo>
                    <a:pt x="18368838" y="0"/>
                  </a:lnTo>
                  <a:lnTo>
                    <a:pt x="1836883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970" r="0" b="-64897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836883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6404" y="8010144"/>
            <a:ext cx="13776627" cy="342900"/>
            <a:chOff x="0" y="0"/>
            <a:chExt cx="18368836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368838" cy="457200"/>
            </a:xfrm>
            <a:custGeom>
              <a:avLst/>
              <a:gdLst/>
              <a:ahLst/>
              <a:cxnLst/>
              <a:rect r="r" b="b" t="t" l="l"/>
              <a:pathLst>
                <a:path h="457200" w="18368838">
                  <a:moveTo>
                    <a:pt x="0" y="0"/>
                  </a:moveTo>
                  <a:lnTo>
                    <a:pt x="18368838" y="0"/>
                  </a:lnTo>
                  <a:lnTo>
                    <a:pt x="1836883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846" r="0" b="-73284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836883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2012 – 2017 · 34,031 rows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928771" y="7626096"/>
            <a:ext cx="2668857" cy="754380"/>
            <a:chOff x="0" y="0"/>
            <a:chExt cx="3558476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58413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58413">
                  <a:moveTo>
                    <a:pt x="0" y="0"/>
                  </a:moveTo>
                  <a:lnTo>
                    <a:pt x="3558413" y="0"/>
                  </a:lnTo>
                  <a:lnTo>
                    <a:pt x="3558413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0B3E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134511" y="7694676"/>
            <a:ext cx="2312241" cy="384048"/>
            <a:chOff x="0" y="0"/>
            <a:chExt cx="3082988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82986" cy="512064"/>
            </a:xfrm>
            <a:custGeom>
              <a:avLst/>
              <a:gdLst/>
              <a:ahLst/>
              <a:cxnLst/>
              <a:rect r="r" b="b" t="t" l="l"/>
              <a:pathLst>
                <a:path h="512064" w="3082986">
                  <a:moveTo>
                    <a:pt x="0" y="0"/>
                  </a:moveTo>
                  <a:lnTo>
                    <a:pt x="3082986" y="0"/>
                  </a:lnTo>
                  <a:lnTo>
                    <a:pt x="308298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13" r="0" b="-673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08298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134511" y="8010144"/>
            <a:ext cx="2312241" cy="342900"/>
            <a:chOff x="0" y="0"/>
            <a:chExt cx="3082988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82986" cy="457200"/>
            </a:xfrm>
            <a:custGeom>
              <a:avLst/>
              <a:gdLst/>
              <a:ahLst/>
              <a:cxnLst/>
              <a:rect r="r" b="b" t="t" l="l"/>
              <a:pathLst>
                <a:path h="457200" w="3082986">
                  <a:moveTo>
                    <a:pt x="0" y="0"/>
                  </a:moveTo>
                  <a:lnTo>
                    <a:pt x="3082986" y="0"/>
                  </a:lnTo>
                  <a:lnTo>
                    <a:pt x="308298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91" r="0" b="-813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082988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2018 · 6,533 rows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4180" y="1663046"/>
            <a:ext cx="16911828" cy="850392"/>
            <a:chOff x="0" y="0"/>
            <a:chExt cx="22549104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Machine Learning Pipeline &amp; Model Selection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275" y="2665095"/>
            <a:ext cx="2830830" cy="1459230"/>
            <a:chOff x="0" y="0"/>
            <a:chExt cx="3774440" cy="1945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44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7744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626231" y="0"/>
                  </a:lnTo>
                  <a:cubicBezTo>
                    <a:pt x="3708146" y="0"/>
                    <a:pt x="3774440" y="66421"/>
                    <a:pt x="3774440" y="148209"/>
                  </a:cubicBezTo>
                  <a:lnTo>
                    <a:pt x="3774440" y="1797431"/>
                  </a:lnTo>
                  <a:cubicBezTo>
                    <a:pt x="3774440" y="1879346"/>
                    <a:pt x="3708019" y="1945640"/>
                    <a:pt x="362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EEF3FC"/>
            </a:solidFill>
            <a:ln w="19050" cap="sq">
              <a:solidFill>
                <a:srgbClr val="D7E3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69065" y="2674620"/>
            <a:ext cx="2828515" cy="1440180"/>
            <a:chOff x="0" y="0"/>
            <a:chExt cx="3771354" cy="192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1354" cy="1920240"/>
            </a:xfrm>
            <a:custGeom>
              <a:avLst/>
              <a:gdLst/>
              <a:ahLst/>
              <a:cxnLst/>
              <a:rect r="r" b="b" t="t" l="l"/>
              <a:pathLst>
                <a:path h="1920240" w="3771354">
                  <a:moveTo>
                    <a:pt x="0" y="0"/>
                  </a:moveTo>
                  <a:lnTo>
                    <a:pt x="3771354" y="0"/>
                  </a:lnTo>
                  <a:lnTo>
                    <a:pt x="3771354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3" t="0" r="-1503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771354" cy="194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Cleaned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97580" y="2674620"/>
            <a:ext cx="370332" cy="1440180"/>
            <a:chOff x="0" y="0"/>
            <a:chExt cx="493776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377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958" t="0" r="-448958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3776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58387" y="2665095"/>
            <a:ext cx="2830830" cy="1459230"/>
            <a:chOff x="0" y="0"/>
            <a:chExt cx="3774440" cy="1945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744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7744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626231" y="0"/>
                  </a:lnTo>
                  <a:cubicBezTo>
                    <a:pt x="3708146" y="0"/>
                    <a:pt x="3774440" y="66421"/>
                    <a:pt x="3774440" y="148209"/>
                  </a:cubicBezTo>
                  <a:lnTo>
                    <a:pt x="3774440" y="1797431"/>
                  </a:lnTo>
                  <a:cubicBezTo>
                    <a:pt x="3774440" y="1879346"/>
                    <a:pt x="3708019" y="1945640"/>
                    <a:pt x="362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EEF3FC"/>
            </a:solidFill>
            <a:ln w="19050" cap="sq">
              <a:solidFill>
                <a:srgbClr val="D7E3F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867912" y="2674620"/>
            <a:ext cx="2811780" cy="1440180"/>
            <a:chOff x="0" y="0"/>
            <a:chExt cx="374904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49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t="0" r="-1571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749040" cy="194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Engineering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79692" y="2674620"/>
            <a:ext cx="370332" cy="1440180"/>
            <a:chOff x="0" y="0"/>
            <a:chExt cx="493776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77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958" t="0" r="-44895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93776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40499" y="2665095"/>
            <a:ext cx="2830830" cy="1459230"/>
            <a:chOff x="0" y="0"/>
            <a:chExt cx="3774440" cy="1945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44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7744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626231" y="0"/>
                  </a:lnTo>
                  <a:cubicBezTo>
                    <a:pt x="3708146" y="0"/>
                    <a:pt x="3774440" y="66421"/>
                    <a:pt x="3774440" y="148209"/>
                  </a:cubicBezTo>
                  <a:lnTo>
                    <a:pt x="3774440" y="1797431"/>
                  </a:lnTo>
                  <a:cubicBezTo>
                    <a:pt x="3774440" y="1879346"/>
                    <a:pt x="3708019" y="1945640"/>
                    <a:pt x="362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193EB0"/>
            </a:solidFill>
            <a:ln w="19050" cap="sq">
              <a:solidFill>
                <a:srgbClr val="193EB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050024" y="2674620"/>
            <a:ext cx="2811780" cy="1440180"/>
            <a:chOff x="0" y="0"/>
            <a:chExt cx="3749040" cy="1920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49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t="0" r="-1571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749040" cy="194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Candidate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61804" y="2674620"/>
            <a:ext cx="370332" cy="1440180"/>
            <a:chOff x="0" y="0"/>
            <a:chExt cx="493776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958" t="0" r="-44895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93776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22611" y="2665095"/>
            <a:ext cx="2830830" cy="1459230"/>
            <a:chOff x="0" y="0"/>
            <a:chExt cx="3774440" cy="1945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744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7744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626231" y="0"/>
                  </a:lnTo>
                  <a:cubicBezTo>
                    <a:pt x="3708146" y="0"/>
                    <a:pt x="3774440" y="66421"/>
                    <a:pt x="3774440" y="148209"/>
                  </a:cubicBezTo>
                  <a:lnTo>
                    <a:pt x="3774440" y="1797431"/>
                  </a:lnTo>
                  <a:cubicBezTo>
                    <a:pt x="3774440" y="1879346"/>
                    <a:pt x="3708019" y="1945640"/>
                    <a:pt x="362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EEF3FC"/>
            </a:solidFill>
            <a:ln w="19050" cap="sq">
              <a:solidFill>
                <a:srgbClr val="D7E3F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232136" y="2674620"/>
            <a:ext cx="2811780" cy="1440180"/>
            <a:chOff x="0" y="0"/>
            <a:chExt cx="374904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49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t="0" r="-1571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749040" cy="194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Time-Based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Validation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43916" y="2674620"/>
            <a:ext cx="370332" cy="1440180"/>
            <a:chOff x="0" y="0"/>
            <a:chExt cx="493776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958" t="0" r="-44895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93776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04723" y="2665095"/>
            <a:ext cx="2830830" cy="1459230"/>
            <a:chOff x="0" y="0"/>
            <a:chExt cx="3774440" cy="1945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744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7744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3626231" y="0"/>
                  </a:lnTo>
                  <a:cubicBezTo>
                    <a:pt x="3708146" y="0"/>
                    <a:pt x="3774440" y="66421"/>
                    <a:pt x="3774440" y="148209"/>
                  </a:cubicBezTo>
                  <a:lnTo>
                    <a:pt x="3774440" y="1797431"/>
                  </a:lnTo>
                  <a:cubicBezTo>
                    <a:pt x="3774440" y="1879346"/>
                    <a:pt x="3708019" y="1945640"/>
                    <a:pt x="362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00B3E3"/>
            </a:solidFill>
            <a:ln w="19050" cap="sq">
              <a:solidFill>
                <a:srgbClr val="00B3E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14248" y="2674620"/>
            <a:ext cx="2811780" cy="1440180"/>
            <a:chOff x="0" y="0"/>
            <a:chExt cx="3749040" cy="1920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49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t="0" r="-1571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749040" cy="1948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5800" y="4608576"/>
            <a:ext cx="8229600" cy="384048"/>
            <a:chOff x="0" y="0"/>
            <a:chExt cx="1097280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25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CANDIDATE MODELS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6275" y="5339715"/>
            <a:ext cx="4924806" cy="1490853"/>
            <a:chOff x="0" y="0"/>
            <a:chExt cx="6566408" cy="19878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66408" cy="1987804"/>
            </a:xfrm>
            <a:custGeom>
              <a:avLst/>
              <a:gdLst/>
              <a:ahLst/>
              <a:cxnLst/>
              <a:rect r="r" b="b" t="t" l="l"/>
              <a:pathLst>
                <a:path h="1987804" w="6566408">
                  <a:moveTo>
                    <a:pt x="0" y="138292"/>
                  </a:moveTo>
                  <a:cubicBezTo>
                    <a:pt x="0" y="61911"/>
                    <a:pt x="66294" y="0"/>
                    <a:pt x="148082" y="0"/>
                  </a:cubicBezTo>
                  <a:lnTo>
                    <a:pt x="6418326" y="0"/>
                  </a:lnTo>
                  <a:cubicBezTo>
                    <a:pt x="6500114" y="0"/>
                    <a:pt x="6566408" y="61911"/>
                    <a:pt x="6566408" y="138292"/>
                  </a:cubicBezTo>
                  <a:lnTo>
                    <a:pt x="6566408" y="1849512"/>
                  </a:lnTo>
                  <a:cubicBezTo>
                    <a:pt x="6566408" y="1925893"/>
                    <a:pt x="6500114" y="1987804"/>
                    <a:pt x="6418326" y="1987804"/>
                  </a:cubicBezTo>
                  <a:lnTo>
                    <a:pt x="148082" y="1987804"/>
                  </a:lnTo>
                  <a:cubicBezTo>
                    <a:pt x="66294" y="1987804"/>
                    <a:pt x="0" y="1925893"/>
                    <a:pt x="0" y="18495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" y="5513832"/>
            <a:ext cx="4357116" cy="438912"/>
            <a:chOff x="0" y="0"/>
            <a:chExt cx="5809488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0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29" r="0" b="-14342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809488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Linear Baseline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6007608"/>
            <a:ext cx="4357116" cy="822960"/>
            <a:chOff x="0" y="0"/>
            <a:chExt cx="5809488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094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" r="0" b="-531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580948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7F7F7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Linear Regression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993511" y="5339715"/>
            <a:ext cx="4924806" cy="1490853"/>
            <a:chOff x="0" y="0"/>
            <a:chExt cx="6566408" cy="19878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66408" cy="1987804"/>
            </a:xfrm>
            <a:custGeom>
              <a:avLst/>
              <a:gdLst/>
              <a:ahLst/>
              <a:cxnLst/>
              <a:rect r="r" b="b" t="t" l="l"/>
              <a:pathLst>
                <a:path h="1987804" w="6566408">
                  <a:moveTo>
                    <a:pt x="0" y="138292"/>
                  </a:moveTo>
                  <a:cubicBezTo>
                    <a:pt x="0" y="61911"/>
                    <a:pt x="66294" y="0"/>
                    <a:pt x="148082" y="0"/>
                  </a:cubicBezTo>
                  <a:lnTo>
                    <a:pt x="6418326" y="0"/>
                  </a:lnTo>
                  <a:cubicBezTo>
                    <a:pt x="6500114" y="0"/>
                    <a:pt x="6566408" y="61911"/>
                    <a:pt x="6566408" y="138292"/>
                  </a:cubicBezTo>
                  <a:lnTo>
                    <a:pt x="6566408" y="1849512"/>
                  </a:lnTo>
                  <a:cubicBezTo>
                    <a:pt x="6566408" y="1925893"/>
                    <a:pt x="6500114" y="1987804"/>
                    <a:pt x="6418326" y="1987804"/>
                  </a:cubicBezTo>
                  <a:lnTo>
                    <a:pt x="148082" y="1987804"/>
                  </a:lnTo>
                  <a:cubicBezTo>
                    <a:pt x="66294" y="1987804"/>
                    <a:pt x="0" y="1925893"/>
                    <a:pt x="0" y="18495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277356" y="5513832"/>
            <a:ext cx="4357116" cy="438912"/>
            <a:chOff x="0" y="0"/>
            <a:chExt cx="5809488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0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29" r="0" b="-14342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809488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Tree Ensemble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77356" y="6007608"/>
            <a:ext cx="4357116" cy="822960"/>
            <a:chOff x="0" y="0"/>
            <a:chExt cx="5809488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094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" r="0" b="-531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80948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7F7F7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 Forest Regressor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10747" y="5339715"/>
            <a:ext cx="4924806" cy="1490853"/>
            <a:chOff x="0" y="0"/>
            <a:chExt cx="6566408" cy="19878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66408" cy="1987804"/>
            </a:xfrm>
            <a:custGeom>
              <a:avLst/>
              <a:gdLst/>
              <a:ahLst/>
              <a:cxnLst/>
              <a:rect r="r" b="b" t="t" l="l"/>
              <a:pathLst>
                <a:path h="1987804" w="6566408">
                  <a:moveTo>
                    <a:pt x="0" y="138292"/>
                  </a:moveTo>
                  <a:cubicBezTo>
                    <a:pt x="0" y="61911"/>
                    <a:pt x="66294" y="0"/>
                    <a:pt x="148082" y="0"/>
                  </a:cubicBezTo>
                  <a:lnTo>
                    <a:pt x="6418326" y="0"/>
                  </a:lnTo>
                  <a:cubicBezTo>
                    <a:pt x="6500114" y="0"/>
                    <a:pt x="6566408" y="61911"/>
                    <a:pt x="6566408" y="138292"/>
                  </a:cubicBezTo>
                  <a:lnTo>
                    <a:pt x="6566408" y="1849512"/>
                  </a:lnTo>
                  <a:cubicBezTo>
                    <a:pt x="6566408" y="1925893"/>
                    <a:pt x="6500114" y="1987804"/>
                    <a:pt x="6418326" y="1987804"/>
                  </a:cubicBezTo>
                  <a:lnTo>
                    <a:pt x="148082" y="1987804"/>
                  </a:lnTo>
                  <a:cubicBezTo>
                    <a:pt x="66294" y="1987804"/>
                    <a:pt x="0" y="1925893"/>
                    <a:pt x="0" y="18495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594592" y="5513832"/>
            <a:ext cx="4357116" cy="438912"/>
            <a:chOff x="0" y="0"/>
            <a:chExt cx="5809488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0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29" r="0" b="-1434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809488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Gradient Boosting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594592" y="6007608"/>
            <a:ext cx="4357116" cy="822960"/>
            <a:chOff x="0" y="0"/>
            <a:chExt cx="5809488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094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09488">
                  <a:moveTo>
                    <a:pt x="0" y="0"/>
                  </a:moveTo>
                  <a:lnTo>
                    <a:pt x="5809488" y="0"/>
                  </a:lnTo>
                  <a:lnTo>
                    <a:pt x="58094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" r="0" b="-5316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5809488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7F7F7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XGBoost and LightGBM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9065" y="8532280"/>
            <a:ext cx="16911828" cy="548640"/>
            <a:chOff x="0" y="0"/>
            <a:chExt cx="22549104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2254910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i="true">
                  <a:solidFill>
                    <a:srgbClr val="7F7F7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Validation: strict time-based split (train through 2017, test on all of 2018), scored on MAE and RMSE.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040499" y="208096"/>
            <a:ext cx="10972800" cy="1115504"/>
            <a:chOff x="0" y="0"/>
            <a:chExt cx="14630400" cy="148733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0" cy="1487339"/>
            </a:xfrm>
            <a:custGeom>
              <a:avLst/>
              <a:gdLst/>
              <a:ahLst/>
              <a:cxnLst/>
              <a:rect r="r" b="b" t="t" l="l"/>
              <a:pathLst>
                <a:path h="1487339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0" b="-11011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14630400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MODELING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5800" y="7074218"/>
            <a:ext cx="7243217" cy="1319950"/>
            <a:chOff x="0" y="0"/>
            <a:chExt cx="9657623" cy="175993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657622" cy="1759933"/>
            </a:xfrm>
            <a:custGeom>
              <a:avLst/>
              <a:gdLst/>
              <a:ahLst/>
              <a:cxnLst/>
              <a:rect r="r" b="b" t="t" l="l"/>
              <a:pathLst>
                <a:path h="1759933" w="9657622">
                  <a:moveTo>
                    <a:pt x="0" y="107108"/>
                  </a:moveTo>
                  <a:cubicBezTo>
                    <a:pt x="0" y="47989"/>
                    <a:pt x="27019" y="0"/>
                    <a:pt x="60304" y="0"/>
                  </a:cubicBezTo>
                  <a:lnTo>
                    <a:pt x="9597319" y="0"/>
                  </a:lnTo>
                  <a:cubicBezTo>
                    <a:pt x="9630604" y="0"/>
                    <a:pt x="9657622" y="47989"/>
                    <a:pt x="9657622" y="107108"/>
                  </a:cubicBezTo>
                  <a:lnTo>
                    <a:pt x="9657622" y="1652825"/>
                  </a:lnTo>
                  <a:cubicBezTo>
                    <a:pt x="9657622" y="1711944"/>
                    <a:pt x="9630604" y="1759933"/>
                    <a:pt x="9597319" y="1759933"/>
                  </a:cubicBezTo>
                  <a:lnTo>
                    <a:pt x="60304" y="1759933"/>
                  </a:lnTo>
                  <a:cubicBezTo>
                    <a:pt x="27019" y="1759933"/>
                    <a:pt x="0" y="1711944"/>
                    <a:pt x="0" y="1652825"/>
                  </a:cubicBezTo>
                  <a:close/>
                </a:path>
              </a:pathLst>
            </a:custGeom>
            <a:solidFill>
              <a:srgbClr val="193EB0"/>
            </a:solidFill>
            <a:ln w="19050" cap="sq">
              <a:solidFill>
                <a:srgbClr val="193EB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982811" y="7074217"/>
            <a:ext cx="7243217" cy="1319950"/>
            <a:chOff x="0" y="0"/>
            <a:chExt cx="9657623" cy="175993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57622" cy="1759933"/>
            </a:xfrm>
            <a:custGeom>
              <a:avLst/>
              <a:gdLst/>
              <a:ahLst/>
              <a:cxnLst/>
              <a:rect r="r" b="b" t="t" l="l"/>
              <a:pathLst>
                <a:path h="1759933" w="9657622">
                  <a:moveTo>
                    <a:pt x="0" y="107108"/>
                  </a:moveTo>
                  <a:cubicBezTo>
                    <a:pt x="0" y="47989"/>
                    <a:pt x="27019" y="0"/>
                    <a:pt x="60304" y="0"/>
                  </a:cubicBezTo>
                  <a:lnTo>
                    <a:pt x="9597319" y="0"/>
                  </a:lnTo>
                  <a:cubicBezTo>
                    <a:pt x="9630604" y="0"/>
                    <a:pt x="9657622" y="47989"/>
                    <a:pt x="9657622" y="107108"/>
                  </a:cubicBezTo>
                  <a:lnTo>
                    <a:pt x="9657622" y="1652825"/>
                  </a:lnTo>
                  <a:cubicBezTo>
                    <a:pt x="9657622" y="1711944"/>
                    <a:pt x="9630604" y="1759933"/>
                    <a:pt x="9597319" y="1759933"/>
                  </a:cubicBezTo>
                  <a:lnTo>
                    <a:pt x="60304" y="1759933"/>
                  </a:lnTo>
                  <a:cubicBezTo>
                    <a:pt x="27019" y="1759933"/>
                    <a:pt x="0" y="1711944"/>
                    <a:pt x="0" y="1652825"/>
                  </a:cubicBezTo>
                  <a:close/>
                </a:path>
              </a:pathLst>
            </a:custGeom>
            <a:solidFill>
              <a:srgbClr val="193EB0"/>
            </a:solidFill>
            <a:ln w="19050" cap="sq">
              <a:solidFill>
                <a:srgbClr val="193EB0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463957" y="7734192"/>
            <a:ext cx="5686903" cy="557752"/>
            <a:chOff x="0" y="0"/>
            <a:chExt cx="7582538" cy="74366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582538" cy="743669"/>
            </a:xfrm>
            <a:custGeom>
              <a:avLst/>
              <a:gdLst/>
              <a:ahLst/>
              <a:cxnLst/>
              <a:rect r="r" b="b" t="t" l="l"/>
              <a:pathLst>
                <a:path h="743669" w="7582538">
                  <a:moveTo>
                    <a:pt x="0" y="0"/>
                  </a:moveTo>
                  <a:lnTo>
                    <a:pt x="7582538" y="0"/>
                  </a:lnTo>
                  <a:lnTo>
                    <a:pt x="7582538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69" r="23383" b="-9156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7582538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AutoRegressive Lag-XGBoost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760968" y="7734192"/>
            <a:ext cx="5686903" cy="557752"/>
            <a:chOff x="0" y="0"/>
            <a:chExt cx="7582538" cy="7436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582538" cy="743669"/>
            </a:xfrm>
            <a:custGeom>
              <a:avLst/>
              <a:gdLst/>
              <a:ahLst/>
              <a:cxnLst/>
              <a:rect r="r" b="b" t="t" l="l"/>
              <a:pathLst>
                <a:path h="743669" w="7582538">
                  <a:moveTo>
                    <a:pt x="0" y="0"/>
                  </a:moveTo>
                  <a:lnTo>
                    <a:pt x="7582538" y="0"/>
                  </a:lnTo>
                  <a:lnTo>
                    <a:pt x="7582538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69" r="23383" b="-9156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7582538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AutoRegressive Lag-XGBoost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63957" y="7176440"/>
            <a:ext cx="5686903" cy="557752"/>
            <a:chOff x="0" y="0"/>
            <a:chExt cx="7582538" cy="74366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582538" cy="743669"/>
            </a:xfrm>
            <a:custGeom>
              <a:avLst/>
              <a:gdLst/>
              <a:ahLst/>
              <a:cxnLst/>
              <a:rect r="r" b="b" t="t" l="l"/>
              <a:pathLst>
                <a:path h="743669" w="7582538">
                  <a:moveTo>
                    <a:pt x="0" y="0"/>
                  </a:moveTo>
                  <a:lnTo>
                    <a:pt x="7582538" y="0"/>
                  </a:lnTo>
                  <a:lnTo>
                    <a:pt x="7582538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69" r="23383" b="-9156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7582538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Time-Series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760968" y="7176440"/>
            <a:ext cx="5686903" cy="557752"/>
            <a:chOff x="0" y="0"/>
            <a:chExt cx="7582538" cy="74366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582538" cy="743669"/>
            </a:xfrm>
            <a:custGeom>
              <a:avLst/>
              <a:gdLst/>
              <a:ahLst/>
              <a:cxnLst/>
              <a:rect r="r" b="b" t="t" l="l"/>
              <a:pathLst>
                <a:path h="743669" w="7582538">
                  <a:moveTo>
                    <a:pt x="0" y="0"/>
                  </a:moveTo>
                  <a:lnTo>
                    <a:pt x="7582538" y="0"/>
                  </a:lnTo>
                  <a:lnTo>
                    <a:pt x="7582538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869" r="23383" b="-9156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7582538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Time-Series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6344" y="1489824"/>
            <a:ext cx="16911828" cy="850392"/>
            <a:chOff x="0" y="0"/>
            <a:chExt cx="22549104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Experimental Results &amp; Model Benchmarking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85800" y="2315079"/>
          <a:ext cx="9284738" cy="4057650"/>
        </p:xfrm>
        <a:graphic>
          <a:graphicData uri="http://schemas.openxmlformats.org/drawingml/2006/table">
            <a:tbl>
              <a:tblPr/>
              <a:tblGrid>
                <a:gridCol w="2995937"/>
                <a:gridCol w="959065"/>
                <a:gridCol w="1876988"/>
                <a:gridCol w="1996478"/>
                <a:gridCol w="1456269"/>
              </a:tblGrid>
              <a:tr h="5251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MAE (veh/hr)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RMSE (veh/hr)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</a:tr>
              <a:tr h="10024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1C1C1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Linear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420.50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580.30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Fast, interpretable baseline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24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1C1C1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450.80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Robust, slower inference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7637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1C1C1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AutoRegress</a:t>
                      </a:r>
                      <a:r>
                        <a:rPr lang="en-US" sz="1575" b="true">
                          <a:solidFill>
                            <a:srgbClr val="1C1C1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ive-LagXGBoost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0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0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146.71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0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229.60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0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Time-Seri</a:t>
                      </a:r>
                      <a:r>
                        <a:rPr lang="en-US" sz="1575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 Champion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0DA"/>
                    </a:solidFill>
                  </a:tcPr>
                </a:tc>
              </a:tr>
              <a:tr h="7637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193EB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XGBoost (Champion)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93E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93E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241.99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93E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397.13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93E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 accuracy — deployed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B"/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04441" y="1391205"/>
            <a:ext cx="9634159" cy="571382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685800" y="6515100"/>
            <a:ext cx="16911828" cy="2125980"/>
            <a:chOff x="0" y="0"/>
            <a:chExt cx="22549104" cy="2834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688336"/>
                  </a:lnTo>
                  <a:cubicBezTo>
                    <a:pt x="22549104" y="2769108"/>
                    <a:pt x="22483572" y="2834640"/>
                    <a:pt x="22402800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6761988"/>
            <a:ext cx="5486400" cy="411480"/>
            <a:chOff x="0" y="0"/>
            <a:chExt cx="73152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73152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2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TAKEAWAY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7173468"/>
            <a:ext cx="16047720" cy="1303020"/>
            <a:chOff x="0" y="0"/>
            <a:chExt cx="21396960" cy="1737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969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973" r="0" b="-1899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21396960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XGBoost clears the 0.90 target with R² = 0.9594 and a mean error of about 242 vehicles per hour — roughly 7% of the dataset's average volume. It is the model we deployed to production.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22913" y="155297"/>
            <a:ext cx="3546063" cy="1221102"/>
            <a:chOff x="0" y="0"/>
            <a:chExt cx="4728083" cy="16281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8083" cy="1628136"/>
            </a:xfrm>
            <a:custGeom>
              <a:avLst/>
              <a:gdLst/>
              <a:ahLst/>
              <a:cxnLst/>
              <a:rect r="r" b="b" t="t" l="l"/>
              <a:pathLst>
                <a:path h="1628136" w="4728083">
                  <a:moveTo>
                    <a:pt x="0" y="0"/>
                  </a:moveTo>
                  <a:lnTo>
                    <a:pt x="4728083" y="0"/>
                  </a:lnTo>
                  <a:lnTo>
                    <a:pt x="4728083" y="1628136"/>
                  </a:lnTo>
                  <a:lnTo>
                    <a:pt x="0" y="1628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3" r="-209436" b="-919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728083" cy="1656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</a:t>
              </a:r>
            </a:p>
          </p:txBody>
        </p:sp>
      </p:grpSp>
    </p:spTree>
  </p:cSld>
  <p:clrMapOvr>
    <a:masterClrMapping/>
  </p:clrMapOvr>
  <p:transition spd="fast">
    <p:wipe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40820" y="208096"/>
            <a:ext cx="6406360" cy="1115504"/>
            <a:chOff x="0" y="0"/>
            <a:chExt cx="8541813" cy="1487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41814" cy="1487339"/>
            </a:xfrm>
            <a:custGeom>
              <a:avLst/>
              <a:gdLst/>
              <a:ahLst/>
              <a:cxnLst/>
              <a:rect r="r" b="b" t="t" l="l"/>
              <a:pathLst>
                <a:path h="1487339" w="8541814">
                  <a:moveTo>
                    <a:pt x="0" y="0"/>
                  </a:moveTo>
                  <a:lnTo>
                    <a:pt x="8541814" y="0"/>
                  </a:lnTo>
                  <a:lnTo>
                    <a:pt x="8541814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71279" b="-1101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541813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EXPLAINABILITY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597914"/>
            <a:ext cx="16911828" cy="850392"/>
            <a:chOff x="0" y="0"/>
            <a:chExt cx="22549104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Importance &amp; Model Explainability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06175" y="2390775"/>
            <a:ext cx="6300978" cy="2103882"/>
            <a:chOff x="0" y="0"/>
            <a:chExt cx="8401304" cy="28051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01304" cy="2805176"/>
            </a:xfrm>
            <a:custGeom>
              <a:avLst/>
              <a:gdLst/>
              <a:ahLst/>
              <a:cxnLst/>
              <a:rect r="r" b="b" t="t" l="l"/>
              <a:pathLst>
                <a:path h="2805176" w="8401304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282813" y="0"/>
                  </a:lnTo>
                  <a:cubicBezTo>
                    <a:pt x="8348218" y="0"/>
                    <a:pt x="8401304" y="53086"/>
                    <a:pt x="8401304" y="118491"/>
                  </a:cubicBezTo>
                  <a:lnTo>
                    <a:pt x="8401304" y="2686685"/>
                  </a:lnTo>
                  <a:cubicBezTo>
                    <a:pt x="8401304" y="2752090"/>
                    <a:pt x="8348218" y="2805176"/>
                    <a:pt x="8282813" y="2805176"/>
                  </a:cubicBezTo>
                  <a:lnTo>
                    <a:pt x="118491" y="2805176"/>
                  </a:lnTo>
                  <a:cubicBezTo>
                    <a:pt x="53086" y="2805176"/>
                    <a:pt x="0" y="2752090"/>
                    <a:pt x="0" y="26866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0" y="2572502"/>
            <a:ext cx="5623560" cy="384048"/>
            <a:chOff x="0" y="0"/>
            <a:chExt cx="749808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49808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 Dominates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29416" y="2902696"/>
            <a:ext cx="6281928" cy="1589294"/>
            <a:chOff x="0" y="0"/>
            <a:chExt cx="8375904" cy="21190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75904" cy="2119059"/>
            </a:xfrm>
            <a:custGeom>
              <a:avLst/>
              <a:gdLst/>
              <a:ahLst/>
              <a:cxnLst/>
              <a:rect r="r" b="b" t="t" l="l"/>
              <a:pathLst>
                <a:path h="2119059" w="8375904">
                  <a:moveTo>
                    <a:pt x="0" y="0"/>
                  </a:moveTo>
                  <a:lnTo>
                    <a:pt x="8375904" y="0"/>
                  </a:lnTo>
                  <a:lnTo>
                    <a:pt x="8375904" y="2119059"/>
                  </a:lnTo>
                  <a:lnTo>
                    <a:pt x="0" y="21190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81" r="0" b="-158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375904" cy="2176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hour_cos and hour_sin together account for the large majority of model importance — the twin-peak commute rhythm is the single strongest signal.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06175" y="4653915"/>
            <a:ext cx="6300978" cy="1966722"/>
            <a:chOff x="0" y="0"/>
            <a:chExt cx="8401304" cy="2622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01303" cy="2622296"/>
            </a:xfrm>
            <a:custGeom>
              <a:avLst/>
              <a:gdLst/>
              <a:ahLst/>
              <a:cxnLst/>
              <a:rect r="r" b="b" t="t" l="l"/>
              <a:pathLst>
                <a:path h="2622296" w="8401303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8290560" y="0"/>
                  </a:lnTo>
                  <a:cubicBezTo>
                    <a:pt x="8351774" y="0"/>
                    <a:pt x="8401303" y="49657"/>
                    <a:pt x="8401303" y="110744"/>
                  </a:cubicBezTo>
                  <a:lnTo>
                    <a:pt x="8401303" y="2511552"/>
                  </a:lnTo>
                  <a:cubicBezTo>
                    <a:pt x="8401303" y="2572766"/>
                    <a:pt x="8351647" y="2622296"/>
                    <a:pt x="8290560" y="2622296"/>
                  </a:cubicBezTo>
                  <a:lnTo>
                    <a:pt x="110744" y="2622296"/>
                  </a:lnTo>
                  <a:cubicBezTo>
                    <a:pt x="49530" y="2622296"/>
                    <a:pt x="0" y="2572639"/>
                    <a:pt x="0" y="2511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0" y="4828032"/>
            <a:ext cx="5623560" cy="384048"/>
            <a:chOff x="0" y="0"/>
            <a:chExt cx="7498080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49808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Calendar Effects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8600" y="5266944"/>
            <a:ext cx="5623560" cy="1234440"/>
            <a:chOff x="0" y="0"/>
            <a:chExt cx="749808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98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498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is_weekend ranks a clear third, confirming the 26% weekday/weekend gap seen in the EDA.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06175" y="6779895"/>
            <a:ext cx="6300978" cy="1966722"/>
            <a:chOff x="0" y="0"/>
            <a:chExt cx="8401304" cy="2622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01303" cy="2622296"/>
            </a:xfrm>
            <a:custGeom>
              <a:avLst/>
              <a:gdLst/>
              <a:ahLst/>
              <a:cxnLst/>
              <a:rect r="r" b="b" t="t" l="l"/>
              <a:pathLst>
                <a:path h="2622296" w="8401303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8290560" y="0"/>
                  </a:lnTo>
                  <a:cubicBezTo>
                    <a:pt x="8351774" y="0"/>
                    <a:pt x="8401303" y="49657"/>
                    <a:pt x="8401303" y="110744"/>
                  </a:cubicBezTo>
                  <a:lnTo>
                    <a:pt x="8401303" y="2511552"/>
                  </a:lnTo>
                  <a:cubicBezTo>
                    <a:pt x="8401303" y="2572766"/>
                    <a:pt x="8351647" y="2622296"/>
                    <a:pt x="8290560" y="2622296"/>
                  </a:cubicBezTo>
                  <a:lnTo>
                    <a:pt x="110744" y="2622296"/>
                  </a:lnTo>
                  <a:cubicBezTo>
                    <a:pt x="49530" y="2622296"/>
                    <a:pt x="0" y="2572639"/>
                    <a:pt x="0" y="2511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0" y="6954012"/>
            <a:ext cx="5623560" cy="384048"/>
            <a:chOff x="0" y="0"/>
            <a:chExt cx="749808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8080" cy="512064"/>
            </a:xfrm>
            <a:custGeom>
              <a:avLst/>
              <a:gdLst/>
              <a:ahLst/>
              <a:cxnLst/>
              <a:rect r="r" b="b" t="t" l="l"/>
              <a:pathLst>
                <a:path h="51206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49808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Weather Is a Modifier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58600" y="7392924"/>
            <a:ext cx="5623560" cy="1234440"/>
            <a:chOff x="0" y="0"/>
            <a:chExt cx="749808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98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7498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temp and is_holiday sit far lower — they nudge the forecast, they do not drive it.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911828" y="9765792"/>
            <a:ext cx="685800" cy="411480"/>
            <a:chOff x="0" y="0"/>
            <a:chExt cx="914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33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59702" y="1319595"/>
            <a:ext cx="12854164" cy="8498203"/>
          </a:xfrm>
          <a:prstGeom prst="rect">
            <a:avLst/>
          </a:prstGeom>
        </p:spPr>
      </p:pic>
    </p:spTree>
  </p:cSld>
  <p:clrMapOvr>
    <a:masterClrMapping/>
  </p:clrMapOvr>
  <p:transition spd="fast">
    <p:wipe dir="u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7666" y="208096"/>
            <a:ext cx="7954625" cy="1115504"/>
            <a:chOff x="0" y="0"/>
            <a:chExt cx="10606166" cy="1487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06166" cy="1487339"/>
            </a:xfrm>
            <a:custGeom>
              <a:avLst/>
              <a:gdLst/>
              <a:ahLst/>
              <a:cxnLst/>
              <a:rect r="r" b="b" t="t" l="l"/>
              <a:pathLst>
                <a:path h="1487339" w="10606166">
                  <a:moveTo>
                    <a:pt x="0" y="0"/>
                  </a:moveTo>
                  <a:lnTo>
                    <a:pt x="10606166" y="0"/>
                  </a:lnTo>
                  <a:lnTo>
                    <a:pt x="10606166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37942" b="-1101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606166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 Series Modeling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6344" y="1636428"/>
            <a:ext cx="16911828" cy="1441466"/>
            <a:chOff x="0" y="0"/>
            <a:chExt cx="22549104" cy="1921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921954"/>
            </a:xfrm>
            <a:custGeom>
              <a:avLst/>
              <a:gdLst/>
              <a:ahLst/>
              <a:cxnLst/>
              <a:rect r="r" b="b" t="t" l="l"/>
              <a:pathLst>
                <a:path h="192195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921954"/>
                  </a:lnTo>
                  <a:lnTo>
                    <a:pt x="0" y="1921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08" r="0" b="-1581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941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</a:t>
              </a: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 Series Modeling: Resolving the 22.8% Missing Data Challenge</a:t>
              </a:r>
            </a:p>
            <a:p>
              <a:pPr algn="l">
                <a:lnSpc>
                  <a:spcPts val="48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41246"/>
            <a:ext cx="685800" cy="436026"/>
            <a:chOff x="0" y="0"/>
            <a:chExt cx="914400" cy="581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81368"/>
            </a:xfrm>
            <a:custGeom>
              <a:avLst/>
              <a:gdLst/>
              <a:ahLst/>
              <a:cxnLst/>
              <a:rect r="r" b="b" t="t" l="l"/>
              <a:pathLst>
                <a:path h="58136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1368"/>
                  </a:lnTo>
                  <a:lnTo>
                    <a:pt x="0" y="581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82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600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5102" y="2486820"/>
            <a:ext cx="18157795" cy="6717792"/>
          </a:xfrm>
          <a:custGeom>
            <a:avLst/>
            <a:gdLst/>
            <a:ahLst/>
            <a:cxnLst/>
            <a:rect r="r" b="b" t="t" l="l"/>
            <a:pathLst>
              <a:path h="6717792" w="18157795">
                <a:moveTo>
                  <a:pt x="0" y="0"/>
                </a:moveTo>
                <a:lnTo>
                  <a:pt x="18157796" y="0"/>
                </a:lnTo>
                <a:lnTo>
                  <a:pt x="18157796" y="6717792"/>
                </a:lnTo>
                <a:lnTo>
                  <a:pt x="0" y="6717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08" r="0" b="-2640"/>
            </a:stretch>
          </a:blipFill>
        </p:spPr>
      </p:sp>
    </p:spTree>
  </p:cSld>
  <p:clrMapOvr>
    <a:masterClrMapping/>
  </p:clrMapOvr>
  <p:transition spd="fast">
    <p:wipe dir="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8942" y="1610944"/>
            <a:ext cx="16911828" cy="850392"/>
            <a:chOff x="0" y="0"/>
            <a:chExt cx="22549104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9175" y="3014853"/>
            <a:ext cx="15559278" cy="1184910"/>
            <a:chOff x="0" y="0"/>
            <a:chExt cx="20745704" cy="1579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45704" cy="1579880"/>
            </a:xfrm>
            <a:custGeom>
              <a:avLst/>
              <a:gdLst/>
              <a:ahLst/>
              <a:cxnLst/>
              <a:rect r="r" b="b" t="t" l="l"/>
              <a:pathLst>
                <a:path h="1579880" w="20745704">
                  <a:moveTo>
                    <a:pt x="0" y="130048"/>
                  </a:moveTo>
                  <a:cubicBezTo>
                    <a:pt x="0" y="58293"/>
                    <a:pt x="58293" y="0"/>
                    <a:pt x="130048" y="0"/>
                  </a:cubicBezTo>
                  <a:lnTo>
                    <a:pt x="20615656" y="0"/>
                  </a:lnTo>
                  <a:cubicBezTo>
                    <a:pt x="20687539" y="0"/>
                    <a:pt x="20745704" y="58293"/>
                    <a:pt x="20745704" y="130048"/>
                  </a:cubicBezTo>
                  <a:lnTo>
                    <a:pt x="20745704" y="1449832"/>
                  </a:lnTo>
                  <a:cubicBezTo>
                    <a:pt x="20745704" y="1521714"/>
                    <a:pt x="20687412" y="1579880"/>
                    <a:pt x="20615656" y="1579880"/>
                  </a:cubicBezTo>
                  <a:lnTo>
                    <a:pt x="130048" y="1579880"/>
                  </a:lnTo>
                  <a:cubicBezTo>
                    <a:pt x="58293" y="1579880"/>
                    <a:pt x="0" y="1521587"/>
                    <a:pt x="0" y="14498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469380" y="2523401"/>
            <a:ext cx="14854428" cy="438912"/>
            <a:chOff x="0" y="0"/>
            <a:chExt cx="19805904" cy="585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05904" cy="585216"/>
            </a:xfrm>
            <a:custGeom>
              <a:avLst/>
              <a:gdLst/>
              <a:ahLst/>
              <a:cxnLst/>
              <a:rect r="r" b="b" t="t" l="l"/>
              <a:pathLst>
                <a:path h="585216" w="19805904">
                  <a:moveTo>
                    <a:pt x="0" y="0"/>
                  </a:moveTo>
                  <a:lnTo>
                    <a:pt x="19805904" y="0"/>
                  </a:lnTo>
                  <a:lnTo>
                    <a:pt x="19805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446" r="0" b="-60944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9805904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 Dashboard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48940" y="3323196"/>
            <a:ext cx="14854428" cy="480060"/>
            <a:chOff x="0" y="0"/>
            <a:chExt cx="1980590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05904" cy="640080"/>
            </a:xfrm>
            <a:custGeom>
              <a:avLst/>
              <a:gdLst/>
              <a:ahLst/>
              <a:cxnLst/>
              <a:rect r="r" b="b" t="t" l="l"/>
              <a:pathLst>
                <a:path h="640080" w="19805904">
                  <a:moveTo>
                    <a:pt x="0" y="0"/>
                  </a:moveTo>
                  <a:lnTo>
                    <a:pt x="19805904" y="0"/>
                  </a:lnTo>
                  <a:lnTo>
                    <a:pt x="19805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922" r="0" b="-55292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9805904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 b="true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HTML / CSS / JavaScript · interactive simulator · live weather integration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035" y="4708779"/>
            <a:ext cx="15559278" cy="1596390"/>
            <a:chOff x="0" y="0"/>
            <a:chExt cx="20745704" cy="2128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45703" cy="2128520"/>
            </a:xfrm>
            <a:custGeom>
              <a:avLst/>
              <a:gdLst/>
              <a:ahLst/>
              <a:cxnLst/>
              <a:rect r="r" b="b" t="t" l="l"/>
              <a:pathLst>
                <a:path h="2128520" w="20745703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0616163" y="0"/>
                  </a:lnTo>
                  <a:cubicBezTo>
                    <a:pt x="20687664" y="0"/>
                    <a:pt x="20745703" y="58039"/>
                    <a:pt x="20745703" y="129540"/>
                  </a:cubicBezTo>
                  <a:lnTo>
                    <a:pt x="20745703" y="1998980"/>
                  </a:lnTo>
                  <a:cubicBezTo>
                    <a:pt x="20745703" y="2070481"/>
                    <a:pt x="20687664" y="2128520"/>
                    <a:pt x="20616163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193EB0"/>
            </a:solidFill>
            <a:ln w="19050" cap="sq">
              <a:solidFill>
                <a:srgbClr val="193EB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42888" y="4258485"/>
            <a:ext cx="14854428" cy="438912"/>
            <a:chOff x="0" y="0"/>
            <a:chExt cx="19805904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05904" cy="585216"/>
            </a:xfrm>
            <a:custGeom>
              <a:avLst/>
              <a:gdLst/>
              <a:ahLst/>
              <a:cxnLst/>
              <a:rect r="r" b="b" t="t" l="l"/>
              <a:pathLst>
                <a:path h="585216" w="19805904">
                  <a:moveTo>
                    <a:pt x="0" y="0"/>
                  </a:moveTo>
                  <a:lnTo>
                    <a:pt x="19805904" y="0"/>
                  </a:lnTo>
                  <a:lnTo>
                    <a:pt x="19805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446" r="0" b="-6094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805904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FastAPI Backend (Python)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5014" y="4924044"/>
            <a:ext cx="14854428" cy="891540"/>
            <a:chOff x="0" y="0"/>
            <a:chExt cx="19805904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059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805904">
                  <a:moveTo>
                    <a:pt x="0" y="0"/>
                  </a:moveTo>
                  <a:lnTo>
                    <a:pt x="19805904" y="0"/>
                  </a:lnTo>
                  <a:lnTo>
                    <a:pt x="198059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650" r="0" b="-2746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9805904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 /predict — batch forecasting    GET /health — monitoring     static file serving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2035" y="6505575"/>
            <a:ext cx="6877050" cy="1322070"/>
            <a:chOff x="0" y="0"/>
            <a:chExt cx="9169400" cy="1762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69400" cy="1762760"/>
            </a:xfrm>
            <a:custGeom>
              <a:avLst/>
              <a:gdLst/>
              <a:ahLst/>
              <a:cxnLst/>
              <a:rect r="r" b="b" t="t" l="l"/>
              <a:pathLst>
                <a:path h="1762760" w="9169400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9039479" y="0"/>
                  </a:lnTo>
                  <a:cubicBezTo>
                    <a:pt x="9111234" y="0"/>
                    <a:pt x="9169400" y="58166"/>
                    <a:pt x="9169400" y="129921"/>
                  </a:cubicBezTo>
                  <a:lnTo>
                    <a:pt x="9169400" y="1632839"/>
                  </a:lnTo>
                  <a:cubicBezTo>
                    <a:pt x="9169400" y="1704594"/>
                    <a:pt x="9111234" y="1762760"/>
                    <a:pt x="9039479" y="1762760"/>
                  </a:cubicBezTo>
                  <a:lnTo>
                    <a:pt x="129921" y="1762760"/>
                  </a:lnTo>
                  <a:cubicBezTo>
                    <a:pt x="58166" y="1762760"/>
                    <a:pt x="0" y="1704594"/>
                    <a:pt x="0" y="16328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66444" y="6679692"/>
            <a:ext cx="6858000" cy="438912"/>
            <a:chOff x="0" y="0"/>
            <a:chExt cx="914400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4400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WeatherAPI (External)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6444" y="7146379"/>
            <a:ext cx="6858000" cy="617220"/>
            <a:chOff x="0" y="0"/>
            <a:chExt cx="914400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822960"/>
            </a:xfrm>
            <a:custGeom>
              <a:avLst/>
              <a:gdLst/>
              <a:ahLst/>
              <a:cxnLst/>
              <a:rect r="r" b="b" t="t" l="l"/>
              <a:pathLst>
                <a:path h="822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440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7F7F7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weather conditions for forecast context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01403" y="6505575"/>
            <a:ext cx="6877050" cy="1322070"/>
            <a:chOff x="0" y="0"/>
            <a:chExt cx="9169400" cy="1762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9400" cy="1762760"/>
            </a:xfrm>
            <a:custGeom>
              <a:avLst/>
              <a:gdLst/>
              <a:ahLst/>
              <a:cxnLst/>
              <a:rect r="r" b="b" t="t" l="l"/>
              <a:pathLst>
                <a:path h="1762760" w="9169400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9039479" y="0"/>
                  </a:lnTo>
                  <a:cubicBezTo>
                    <a:pt x="9111234" y="0"/>
                    <a:pt x="9169400" y="58166"/>
                    <a:pt x="9169400" y="129921"/>
                  </a:cubicBezTo>
                  <a:lnTo>
                    <a:pt x="9169400" y="1632839"/>
                  </a:lnTo>
                  <a:cubicBezTo>
                    <a:pt x="9169400" y="1704594"/>
                    <a:pt x="9111234" y="1762760"/>
                    <a:pt x="9039479" y="1762760"/>
                  </a:cubicBezTo>
                  <a:lnTo>
                    <a:pt x="129921" y="1762760"/>
                  </a:lnTo>
                  <a:cubicBezTo>
                    <a:pt x="58166" y="1762760"/>
                    <a:pt x="0" y="1704594"/>
                    <a:pt x="0" y="16328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925812" y="6655308"/>
            <a:ext cx="6858000" cy="493663"/>
            <a:chOff x="0" y="0"/>
            <a:chExt cx="9144000" cy="6582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658217"/>
            </a:xfrm>
            <a:custGeom>
              <a:avLst/>
              <a:gdLst/>
              <a:ahLst/>
              <a:cxnLst/>
              <a:rect r="r" b="b" t="t" l="l"/>
              <a:pathLst>
                <a:path h="658217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58217"/>
                  </a:lnTo>
                  <a:lnTo>
                    <a:pt x="0" y="658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32" r="0" b="-2151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144000" cy="667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XGBoost Model Store | AutoRegressive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25812" y="7036479"/>
            <a:ext cx="6858000" cy="617220"/>
            <a:chOff x="0" y="0"/>
            <a:chExt cx="914400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822960"/>
            </a:xfrm>
            <a:custGeom>
              <a:avLst/>
              <a:gdLst/>
              <a:ahLst/>
              <a:cxnLst/>
              <a:rect r="r" b="b" t="t" l="l"/>
              <a:pathLst>
                <a:path h="822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1440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7F7F7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 joblib artifact · R² = 0.9594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44434" y="3685489"/>
            <a:ext cx="822960" cy="480060"/>
            <a:chOff x="0" y="0"/>
            <a:chExt cx="109728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97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70748" y="6431280"/>
            <a:ext cx="822960" cy="480060"/>
            <a:chOff x="0" y="0"/>
            <a:chExt cx="109728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097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2035" y="7901902"/>
            <a:ext cx="15536418" cy="1253490"/>
            <a:chOff x="0" y="0"/>
            <a:chExt cx="20715224" cy="1671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15224" cy="1671320"/>
            </a:xfrm>
            <a:custGeom>
              <a:avLst/>
              <a:gdLst/>
              <a:ahLst/>
              <a:cxnLst/>
              <a:rect r="r" b="b" t="t" l="l"/>
              <a:pathLst>
                <a:path h="1671320" w="20715224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566635" y="0"/>
                  </a:lnTo>
                  <a:cubicBezTo>
                    <a:pt x="20648676" y="0"/>
                    <a:pt x="20715224" y="66548"/>
                    <a:pt x="20715224" y="148590"/>
                  </a:cubicBezTo>
                  <a:lnTo>
                    <a:pt x="20715224" y="1522730"/>
                  </a:lnTo>
                  <a:cubicBezTo>
                    <a:pt x="20715224" y="1604772"/>
                    <a:pt x="20648676" y="1671320"/>
                    <a:pt x="20566635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0E2258"/>
            </a:solidFill>
            <a:ln w="19050" cap="sq">
              <a:solidFill>
                <a:srgbClr val="0E225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398514" y="8119872"/>
            <a:ext cx="4114800" cy="356616"/>
            <a:chOff x="0" y="0"/>
            <a:chExt cx="5486400" cy="4754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475488"/>
            </a:xfrm>
            <a:custGeom>
              <a:avLst/>
              <a:gdLst/>
              <a:ahLst/>
              <a:cxnLst/>
              <a:rect r="r" b="b" t="t" l="l"/>
              <a:pathLst>
                <a:path h="47548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48640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18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CLOUD DEPLOYMENT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207514" y="8517807"/>
            <a:ext cx="14950440" cy="617220"/>
            <a:chOff x="0" y="0"/>
            <a:chExt cx="1993392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933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970" r="0" b="-42197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99339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Railway (PaaS)  ·  Docker container  ·  Python 3.12  ·  pinned dependencies  ·  GitHub CI/CD  ·  auto-horizontal scaling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783812" y="9919554"/>
            <a:ext cx="806564" cy="306339"/>
            <a:chOff x="0" y="0"/>
            <a:chExt cx="914400" cy="3472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347297"/>
            </a:xfrm>
            <a:custGeom>
              <a:avLst/>
              <a:gdLst/>
              <a:ahLst/>
              <a:cxnLst/>
              <a:rect r="r" b="b" t="t" l="l"/>
              <a:pathLst>
                <a:path h="347297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47297"/>
                  </a:lnTo>
                  <a:lnTo>
                    <a:pt x="0" y="347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-369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14400" cy="366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993400" y="200165"/>
            <a:ext cx="5377657" cy="1115504"/>
            <a:chOff x="0" y="0"/>
            <a:chExt cx="7170209" cy="14873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70209" cy="1487339"/>
            </a:xfrm>
            <a:custGeom>
              <a:avLst/>
              <a:gdLst/>
              <a:ahLst/>
              <a:cxnLst/>
              <a:rect r="r" b="b" t="t" l="l"/>
              <a:pathLst>
                <a:path h="1487339" w="7170209">
                  <a:moveTo>
                    <a:pt x="0" y="0"/>
                  </a:moveTo>
                  <a:lnTo>
                    <a:pt x="7170209" y="0"/>
                  </a:lnTo>
                  <a:lnTo>
                    <a:pt x="7170209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104044" b="-1101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7170209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</p:spTree>
  </p:cSld>
  <p:clrMapOvr>
    <a:masterClrMapping/>
  </p:clrMapOvr>
  <p:transition spd="fast">
    <p:wipe dir="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6344" y="1550746"/>
            <a:ext cx="17737387" cy="1441466"/>
            <a:chOff x="0" y="0"/>
            <a:chExt cx="23649849" cy="1921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49849" cy="1921954"/>
            </a:xfrm>
            <a:custGeom>
              <a:avLst/>
              <a:gdLst/>
              <a:ahLst/>
              <a:cxnLst/>
              <a:rect r="r" b="b" t="t" l="l"/>
              <a:pathLst>
                <a:path h="1921954" w="23649849">
                  <a:moveTo>
                    <a:pt x="0" y="0"/>
                  </a:moveTo>
                  <a:lnTo>
                    <a:pt x="23649849" y="0"/>
                  </a:lnTo>
                  <a:lnTo>
                    <a:pt x="23649849" y="1921954"/>
                  </a:lnTo>
                  <a:lnTo>
                    <a:pt x="0" y="1921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08" r="4654" b="-1581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3649849" cy="1941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Hyb</a:t>
              </a: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rid Deployment Strategy: Dual-Engine Traffic Forecasting</a:t>
              </a:r>
            </a:p>
            <a:p>
              <a:pPr algn="l">
                <a:lnSpc>
                  <a:spcPts val="48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11828" y="9853483"/>
            <a:ext cx="852506" cy="450972"/>
            <a:chOff x="0" y="0"/>
            <a:chExt cx="914400" cy="4837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483714"/>
            </a:xfrm>
            <a:custGeom>
              <a:avLst/>
              <a:gdLst/>
              <a:ahLst/>
              <a:cxnLst/>
              <a:rect r="r" b="b" t="t" l="l"/>
              <a:pathLst>
                <a:path h="48371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83714"/>
                  </a:lnTo>
                  <a:lnTo>
                    <a:pt x="0" y="483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1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4400" cy="502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</a:p>
            <a:p>
              <a:pPr algn="r">
                <a:lnSpc>
                  <a:spcPts val="153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19050" y="-19050"/>
            <a:ext cx="18288057" cy="1569796"/>
            <a:chOff x="0" y="0"/>
            <a:chExt cx="24384076" cy="20930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127" cy="2093087"/>
            </a:xfrm>
            <a:custGeom>
              <a:avLst/>
              <a:gdLst/>
              <a:ahLst/>
              <a:cxnLst/>
              <a:rect r="r" b="b" t="t" l="l"/>
              <a:pathLst>
                <a:path h="2093087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2093087"/>
                  </a:lnTo>
                  <a:lnTo>
                    <a:pt x="0" y="2093087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93400" y="200165"/>
            <a:ext cx="5377657" cy="1115504"/>
            <a:chOff x="0" y="0"/>
            <a:chExt cx="7170209" cy="14873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70209" cy="1487339"/>
            </a:xfrm>
            <a:custGeom>
              <a:avLst/>
              <a:gdLst/>
              <a:ahLst/>
              <a:cxnLst/>
              <a:rect r="r" b="b" t="t" l="l"/>
              <a:pathLst>
                <a:path h="1487339" w="7170209">
                  <a:moveTo>
                    <a:pt x="0" y="0"/>
                  </a:moveTo>
                  <a:lnTo>
                    <a:pt x="7170209" y="0"/>
                  </a:lnTo>
                  <a:lnTo>
                    <a:pt x="7170209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104044" b="-1101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170209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09979" y="2271479"/>
            <a:ext cx="18478986" cy="7161800"/>
          </a:xfrm>
          <a:custGeom>
            <a:avLst/>
            <a:gdLst/>
            <a:ahLst/>
            <a:cxnLst/>
            <a:rect r="r" b="b" t="t" l="l"/>
            <a:pathLst>
              <a:path h="7161800" w="18478986">
                <a:moveTo>
                  <a:pt x="0" y="0"/>
                </a:moveTo>
                <a:lnTo>
                  <a:pt x="18478986" y="0"/>
                </a:lnTo>
                <a:lnTo>
                  <a:pt x="18478986" y="7161800"/>
                </a:lnTo>
                <a:lnTo>
                  <a:pt x="0" y="7161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47" r="0" b="0"/>
            </a:stretch>
          </a:blipFill>
        </p:spPr>
      </p:sp>
    </p:spTree>
  </p:cSld>
  <p:clrMapOvr>
    <a:masterClrMapping/>
  </p:clrMapOvr>
  <p:transition spd="fast">
    <p:wipe dir="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8273"/>
            <a:ext cx="18288000" cy="1571625"/>
            <a:chOff x="0" y="0"/>
            <a:chExt cx="24384000" cy="209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39117" y="179788"/>
            <a:ext cx="5352566" cy="1115504"/>
            <a:chOff x="0" y="0"/>
            <a:chExt cx="7136755" cy="1487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36755" cy="1487339"/>
            </a:xfrm>
            <a:custGeom>
              <a:avLst/>
              <a:gdLst/>
              <a:ahLst/>
              <a:cxnLst/>
              <a:rect r="r" b="b" t="t" l="l"/>
              <a:pathLst>
                <a:path h="1487339" w="7136755">
                  <a:moveTo>
                    <a:pt x="0" y="0"/>
                  </a:moveTo>
                  <a:lnTo>
                    <a:pt x="7136755" y="0"/>
                  </a:lnTo>
                  <a:lnTo>
                    <a:pt x="7136755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223" r="-105000" b="-1101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136755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6344" y="1591056"/>
            <a:ext cx="16911828" cy="850392"/>
            <a:chOff x="0" y="0"/>
            <a:chExt cx="22549104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500" r="0" b="-3375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C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&amp; API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400300"/>
            <a:ext cx="8229600" cy="384048"/>
            <a:chOff x="0" y="0"/>
            <a:chExt cx="1097280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9728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25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TRY IT YOURSELF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6275" y="2870835"/>
            <a:ext cx="8728710" cy="773430"/>
            <a:chOff x="0" y="0"/>
            <a:chExt cx="11638280" cy="1031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382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1638280">
                  <a:moveTo>
                    <a:pt x="0" y="506222"/>
                  </a:moveTo>
                  <a:cubicBezTo>
                    <a:pt x="0" y="226695"/>
                    <a:pt x="226695" y="0"/>
                    <a:pt x="506222" y="0"/>
                  </a:cubicBezTo>
                  <a:lnTo>
                    <a:pt x="11132058" y="0"/>
                  </a:lnTo>
                  <a:cubicBezTo>
                    <a:pt x="11411712" y="0"/>
                    <a:pt x="11638280" y="226695"/>
                    <a:pt x="11638280" y="506222"/>
                  </a:cubicBezTo>
                  <a:lnTo>
                    <a:pt x="11638280" y="525018"/>
                  </a:lnTo>
                  <a:cubicBezTo>
                    <a:pt x="11638280" y="804672"/>
                    <a:pt x="11411585" y="1031240"/>
                    <a:pt x="11132058" y="1031240"/>
                  </a:cubicBezTo>
                  <a:lnTo>
                    <a:pt x="506222" y="1031240"/>
                  </a:lnTo>
                  <a:cubicBezTo>
                    <a:pt x="226695" y="1031240"/>
                    <a:pt x="0" y="804545"/>
                    <a:pt x="0" y="525018"/>
                  </a:cubicBezTo>
                  <a:close/>
                </a:path>
              </a:pathLst>
            </a:custGeom>
            <a:solidFill>
              <a:srgbClr val="EEF3FC"/>
            </a:solidFill>
            <a:ln w="19050" cap="sq">
              <a:solidFill>
                <a:srgbClr val="193EB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76275" y="2870835"/>
            <a:ext cx="8728710" cy="773430"/>
            <a:chOff x="0" y="0"/>
            <a:chExt cx="11638280" cy="1031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382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1638280">
                  <a:moveTo>
                    <a:pt x="0" y="0"/>
                  </a:moveTo>
                  <a:lnTo>
                    <a:pt x="11638280" y="0"/>
                  </a:lnTo>
                  <a:lnTo>
                    <a:pt x="11638280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638280" cy="1050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b="true" sz="1725" u="sng">
                  <a:solidFill>
                    <a:srgbClr val="193EB0"/>
                  </a:solidFill>
                  <a:latin typeface="Arial Bold"/>
                  <a:ea typeface="Arial Bold"/>
                  <a:cs typeface="Arial Bold"/>
                  <a:sym typeface="Arial Bold"/>
                  <a:hlinkClick r:id="rId5" tooltip="https://traffic-volume-production.up.railway.app"/>
                </a:rPr>
                <a:t>traffic-volume-production.up.railway.app/#simulator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800" y="3950037"/>
            <a:ext cx="8709660" cy="685800"/>
            <a:chOff x="0" y="0"/>
            <a:chExt cx="1161288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128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612880">
                  <a:moveTo>
                    <a:pt x="0" y="0"/>
                  </a:moveTo>
                  <a:lnTo>
                    <a:pt x="11612880" y="0"/>
                  </a:lnTo>
                  <a:lnTo>
                    <a:pt x="11612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59" r="0" b="-1974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6128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Interactive simulator: pick a date, city, and hour to get a live 1–3 day forecast, weather-aware.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4947561"/>
            <a:ext cx="8709660" cy="3267847"/>
            <a:chOff x="0" y="0"/>
            <a:chExt cx="11612880" cy="43571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12880" cy="4357243"/>
            </a:xfrm>
            <a:custGeom>
              <a:avLst/>
              <a:gdLst/>
              <a:ahLst/>
              <a:cxnLst/>
              <a:rect r="r" b="b" t="t" l="l"/>
              <a:pathLst>
                <a:path h="4357243" w="11612880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11471529" y="0"/>
                  </a:lnTo>
                  <a:cubicBezTo>
                    <a:pt x="11549507" y="0"/>
                    <a:pt x="11612880" y="63246"/>
                    <a:pt x="11612880" y="141351"/>
                  </a:cubicBezTo>
                  <a:lnTo>
                    <a:pt x="11612880" y="4215892"/>
                  </a:lnTo>
                  <a:cubicBezTo>
                    <a:pt x="11612880" y="4293870"/>
                    <a:pt x="11549635" y="4357243"/>
                    <a:pt x="11471529" y="4357243"/>
                  </a:cubicBezTo>
                  <a:lnTo>
                    <a:pt x="141351" y="4357243"/>
                  </a:lnTo>
                  <a:cubicBezTo>
                    <a:pt x="63246" y="4357116"/>
                    <a:pt x="0" y="4293870"/>
                    <a:pt x="0" y="4215892"/>
                  </a:cubicBezTo>
                  <a:close/>
                </a:path>
              </a:pathLst>
            </a:custGeom>
            <a:solidFill>
              <a:srgbClr val="0E225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" y="5179847"/>
            <a:ext cx="8023860" cy="411480"/>
            <a:chOff x="0" y="0"/>
            <a:chExt cx="1069848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6984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POST /predict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5512137"/>
            <a:ext cx="8023860" cy="2734113"/>
            <a:chOff x="0" y="0"/>
            <a:chExt cx="10698480" cy="36454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98480" cy="3645483"/>
            </a:xfrm>
            <a:custGeom>
              <a:avLst/>
              <a:gdLst/>
              <a:ahLst/>
              <a:cxnLst/>
              <a:rect r="r" b="b" t="t" l="l"/>
              <a:pathLst>
                <a:path h="3645483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3645483"/>
                  </a:lnTo>
                  <a:lnTo>
                    <a:pt x="0" y="36454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75" r="0" b="102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698480" cy="3683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"start_date": "2026-09-01",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"days": 3,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"city": "Minneapolis",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"country": "US",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"hour": 12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38360" y="1659407"/>
            <a:ext cx="7970520" cy="6556000"/>
            <a:chOff x="0" y="0"/>
            <a:chExt cx="10627360" cy="87413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27361" cy="8741411"/>
            </a:xfrm>
            <a:custGeom>
              <a:avLst/>
              <a:gdLst/>
              <a:ahLst/>
              <a:cxnLst/>
              <a:rect r="r" b="b" t="t" l="l"/>
              <a:pathLst>
                <a:path h="8741411" w="10627361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10465943" y="0"/>
                  </a:lnTo>
                  <a:cubicBezTo>
                    <a:pt x="10555098" y="0"/>
                    <a:pt x="10627361" y="72263"/>
                    <a:pt x="10627361" y="161417"/>
                  </a:cubicBezTo>
                  <a:lnTo>
                    <a:pt x="10627361" y="8579993"/>
                  </a:lnTo>
                  <a:cubicBezTo>
                    <a:pt x="10627361" y="8669148"/>
                    <a:pt x="10555098" y="8741411"/>
                    <a:pt x="10465943" y="8741411"/>
                  </a:cubicBezTo>
                  <a:lnTo>
                    <a:pt x="161417" y="8741411"/>
                  </a:lnTo>
                  <a:cubicBezTo>
                    <a:pt x="72263" y="8741283"/>
                    <a:pt x="0" y="8669147"/>
                    <a:pt x="0" y="8579993"/>
                  </a:cubicBezTo>
                  <a:close/>
                </a:path>
              </a:pathLst>
            </a:custGeom>
            <a:solidFill>
              <a:srgbClr val="0E225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81260" y="1914496"/>
            <a:ext cx="7173468" cy="411480"/>
            <a:chOff x="0" y="0"/>
            <a:chExt cx="9564624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64624" cy="548640"/>
            </a:xfrm>
            <a:custGeom>
              <a:avLst/>
              <a:gdLst/>
              <a:ahLst/>
              <a:cxnLst/>
              <a:rect r="r" b="b" t="t" l="l"/>
              <a:pathLst>
                <a:path h="548640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9689" r="0" b="-2896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564624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Response 200 OK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81260" y="2508123"/>
            <a:ext cx="7173468" cy="5496439"/>
            <a:chOff x="0" y="0"/>
            <a:chExt cx="9564624" cy="73285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64624" cy="7328585"/>
            </a:xfrm>
            <a:custGeom>
              <a:avLst/>
              <a:gdLst/>
              <a:ahLst/>
              <a:cxnLst/>
              <a:rect r="r" b="b" t="t" l="l"/>
              <a:pathLst>
                <a:path h="7328585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7328585"/>
                  </a:lnTo>
                  <a:lnTo>
                    <a:pt x="0" y="7328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10" t="0" r="-15010" b="3387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64624" cy="7366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{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"city": "Minneapolis",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"country": "US",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"start_date": "2026-09-01",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"days": 3,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"hour": 12,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"predictions": [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{"date": "2026-09-01",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 "predicted_traffic_volume": 4220.05},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{"date": "2026-09-02",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 "predicted_traffic_volume": 3810.66},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{"date": "2026-09-03",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   "predicted_traffic_volume": 4150.23}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 ]</a:t>
              </a:r>
            </a:p>
            <a:p>
              <a:pPr algn="l">
                <a:lnSpc>
                  <a:spcPts val="2822"/>
                </a:lnSpc>
              </a:pPr>
              <a:r>
                <a:rPr lang="en-US" sz="2100" b="true">
                  <a:solidFill>
                    <a:srgbClr val="D8E2F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}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8351463"/>
            <a:ext cx="9395460" cy="548640"/>
            <a:chOff x="0" y="0"/>
            <a:chExt cx="125272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527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681" r="0" b="-28368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2527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7F7F7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Design targets: prediction latency under 500ms, service uptime 99.9%.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874545"/>
            <a:ext cx="797052" cy="302727"/>
            <a:chOff x="0" y="0"/>
            <a:chExt cx="914400" cy="3472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347297"/>
            </a:xfrm>
            <a:custGeom>
              <a:avLst/>
              <a:gdLst/>
              <a:ahLst/>
              <a:cxnLst/>
              <a:rect r="r" b="b" t="t" l="l"/>
              <a:pathLst>
                <a:path h="347297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47297"/>
                  </a:lnTo>
                  <a:lnTo>
                    <a:pt x="0" y="347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717" t="0" r="-16717" b="-369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14400" cy="366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7F7F7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wipe dir="d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11828" y="9859856"/>
            <a:ext cx="835726" cy="317416"/>
            <a:chOff x="0" y="0"/>
            <a:chExt cx="914400" cy="347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47297"/>
            </a:xfrm>
            <a:custGeom>
              <a:avLst/>
              <a:gdLst/>
              <a:ahLst/>
              <a:cxnLst/>
              <a:rect r="r" b="b" t="t" l="l"/>
              <a:pathLst>
                <a:path h="347297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47297"/>
                  </a:lnTo>
                  <a:lnTo>
                    <a:pt x="0" y="347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17" t="0" r="-16717" b="-3691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14400" cy="366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DA0DA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8229600" y="-5692140"/>
            <a:ext cx="8229600" cy="8229600"/>
            <a:chOff x="0" y="0"/>
            <a:chExt cx="10972800" cy="1097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02A7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911560" y="10177272"/>
            <a:ext cx="6035040" cy="6035040"/>
            <a:chOff x="0" y="0"/>
            <a:chExt cx="8046720" cy="8046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102A7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" y="1714500"/>
            <a:ext cx="2728806" cy="685800"/>
            <a:chOff x="0" y="0"/>
            <a:chExt cx="3638408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38408" cy="914400"/>
            </a:xfrm>
            <a:custGeom>
              <a:avLst/>
              <a:gdLst/>
              <a:ahLst/>
              <a:cxnLst/>
              <a:rect r="r" b="b" t="t" l="l"/>
              <a:pathLst>
                <a:path h="914400" w="3638408">
                  <a:moveTo>
                    <a:pt x="0" y="0"/>
                  </a:moveTo>
                  <a:lnTo>
                    <a:pt x="3638408" y="0"/>
                  </a:lnTo>
                  <a:lnTo>
                    <a:pt x="363840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1" r="-519751" b="-4305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3638408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Takeaways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44921" y="-48273"/>
            <a:ext cx="6227063" cy="1571625"/>
            <a:chOff x="0" y="0"/>
            <a:chExt cx="8302751" cy="209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02751" cy="2095500"/>
            </a:xfrm>
            <a:custGeom>
              <a:avLst/>
              <a:gdLst/>
              <a:ahLst/>
              <a:cxnLst/>
              <a:rect r="r" b="b" t="t" l="l"/>
              <a:pathLst>
                <a:path h="2095500" w="8302751">
                  <a:moveTo>
                    <a:pt x="0" y="0"/>
                  </a:moveTo>
                  <a:lnTo>
                    <a:pt x="8302751" y="0"/>
                  </a:lnTo>
                  <a:lnTo>
                    <a:pt x="8302751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6842" t="0" r="-9684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239117" y="179788"/>
            <a:ext cx="5352566" cy="1115504"/>
            <a:chOff x="0" y="0"/>
            <a:chExt cx="7136755" cy="14873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6755" cy="1487339"/>
            </a:xfrm>
            <a:custGeom>
              <a:avLst/>
              <a:gdLst/>
              <a:ahLst/>
              <a:cxnLst/>
              <a:rect r="r" b="b" t="t" l="l"/>
              <a:pathLst>
                <a:path h="1487339" w="7136755">
                  <a:moveTo>
                    <a:pt x="0" y="0"/>
                  </a:moveTo>
                  <a:lnTo>
                    <a:pt x="7136755" y="0"/>
                  </a:lnTo>
                  <a:lnTo>
                    <a:pt x="7136755" y="1487339"/>
                  </a:lnTo>
                  <a:lnTo>
                    <a:pt x="0" y="1487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23" r="-105000" b="-1101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136755" cy="1515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4470" y="3148534"/>
            <a:ext cx="4539996" cy="3976536"/>
            <a:chOff x="0" y="0"/>
            <a:chExt cx="6053328" cy="53020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53328" cy="5302048"/>
            </a:xfrm>
            <a:custGeom>
              <a:avLst/>
              <a:gdLst/>
              <a:ahLst/>
              <a:cxnLst/>
              <a:rect r="r" b="b" t="t" l="l"/>
              <a:pathLst>
                <a:path h="5302048" w="6053328">
                  <a:moveTo>
                    <a:pt x="0" y="128535"/>
                  </a:moveTo>
                  <a:cubicBezTo>
                    <a:pt x="0" y="57573"/>
                    <a:pt x="65532" y="0"/>
                    <a:pt x="146304" y="0"/>
                  </a:cubicBezTo>
                  <a:lnTo>
                    <a:pt x="5907024" y="0"/>
                  </a:lnTo>
                  <a:cubicBezTo>
                    <a:pt x="5987796" y="0"/>
                    <a:pt x="6053328" y="57573"/>
                    <a:pt x="6053328" y="128535"/>
                  </a:cubicBezTo>
                  <a:lnTo>
                    <a:pt x="6053328" y="5173514"/>
                  </a:lnTo>
                  <a:cubicBezTo>
                    <a:pt x="6053328" y="5244475"/>
                    <a:pt x="5987796" y="5302048"/>
                    <a:pt x="5907024" y="5302048"/>
                  </a:cubicBezTo>
                  <a:lnTo>
                    <a:pt x="146304" y="5302048"/>
                  </a:lnTo>
                  <a:cubicBezTo>
                    <a:pt x="65532" y="5302048"/>
                    <a:pt x="0" y="5244476"/>
                    <a:pt x="0" y="5173514"/>
                  </a:cubicBez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90725" y="3682675"/>
            <a:ext cx="3854196" cy="895237"/>
            <a:chOff x="0" y="0"/>
            <a:chExt cx="5138928" cy="11936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38928" cy="1193649"/>
            </a:xfrm>
            <a:custGeom>
              <a:avLst/>
              <a:gdLst/>
              <a:ahLst/>
              <a:cxnLst/>
              <a:rect r="r" b="b" t="t" l="l"/>
              <a:pathLst>
                <a:path h="1193649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1193649"/>
                  </a:lnTo>
                  <a:lnTo>
                    <a:pt x="0" y="1193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3" r="0" b="-4134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38928" cy="1231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</a:t>
              </a: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 We Learned</a:t>
              </a:r>
            </a:p>
            <a:p>
              <a:pPr algn="l">
                <a:lnSpc>
                  <a:spcPts val="3168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19275" y="4798797"/>
            <a:ext cx="3854196" cy="1920240"/>
            <a:chOff x="0" y="0"/>
            <a:chExt cx="5138928" cy="2560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38928" cy="2560320"/>
            </a:xfrm>
            <a:custGeom>
              <a:avLst/>
              <a:gdLst/>
              <a:ahLst/>
              <a:cxnLst/>
              <a:rect r="r" b="b" t="t" l="l"/>
              <a:pathLst>
                <a:path h="2560320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23" t="0" r="-1392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5138928" cy="264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</a:t>
              </a: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ore than just a project — a genuinely valuable experience.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25946" y="3148534"/>
            <a:ext cx="4539996" cy="3976536"/>
            <a:chOff x="0" y="0"/>
            <a:chExt cx="6053328" cy="5302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53328" cy="5302048"/>
            </a:xfrm>
            <a:custGeom>
              <a:avLst/>
              <a:gdLst/>
              <a:ahLst/>
              <a:cxnLst/>
              <a:rect r="r" b="b" t="t" l="l"/>
              <a:pathLst>
                <a:path h="5302048" w="6053328">
                  <a:moveTo>
                    <a:pt x="0" y="128535"/>
                  </a:moveTo>
                  <a:cubicBezTo>
                    <a:pt x="0" y="57573"/>
                    <a:pt x="65532" y="0"/>
                    <a:pt x="146304" y="0"/>
                  </a:cubicBezTo>
                  <a:lnTo>
                    <a:pt x="5907024" y="0"/>
                  </a:lnTo>
                  <a:cubicBezTo>
                    <a:pt x="5987796" y="0"/>
                    <a:pt x="6053328" y="57573"/>
                    <a:pt x="6053328" y="128535"/>
                  </a:cubicBezTo>
                  <a:lnTo>
                    <a:pt x="6053328" y="5173514"/>
                  </a:lnTo>
                  <a:cubicBezTo>
                    <a:pt x="6053328" y="5244475"/>
                    <a:pt x="5987796" y="5302048"/>
                    <a:pt x="5907024" y="5302048"/>
                  </a:cubicBezTo>
                  <a:lnTo>
                    <a:pt x="146304" y="5302048"/>
                  </a:lnTo>
                  <a:cubicBezTo>
                    <a:pt x="65532" y="5302048"/>
                    <a:pt x="0" y="5244476"/>
                    <a:pt x="0" y="5173514"/>
                  </a:cubicBez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68846" y="3615944"/>
            <a:ext cx="4608576" cy="1028700"/>
            <a:chOff x="0" y="0"/>
            <a:chExt cx="6144768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44768" cy="1371600"/>
            </a:xfrm>
            <a:custGeom>
              <a:avLst/>
              <a:gdLst/>
              <a:ahLst/>
              <a:cxnLst/>
              <a:rect r="r" b="b" t="t" l="l"/>
              <a:pathLst>
                <a:path h="13716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144768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</a:t>
              </a: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eal-World Application</a:t>
              </a:r>
            </a:p>
            <a:p>
              <a:pPr algn="l">
                <a:lnSpc>
                  <a:spcPts val="316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68846" y="4798797"/>
            <a:ext cx="3854196" cy="2326273"/>
            <a:chOff x="0" y="0"/>
            <a:chExt cx="5138928" cy="31016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38928" cy="3101697"/>
            </a:xfrm>
            <a:custGeom>
              <a:avLst/>
              <a:gdLst/>
              <a:ahLst/>
              <a:cxnLst/>
              <a:rect r="r" b="b" t="t" l="l"/>
              <a:pathLst>
                <a:path h="3101697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3101697"/>
                  </a:lnTo>
                  <a:lnTo>
                    <a:pt x="0" y="3101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23" t="0" r="-13923" b="174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5138928" cy="3187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</a:t>
              </a: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ained on 2012–2018 data — proof that with today's data, this could run today.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77422" y="3148534"/>
            <a:ext cx="4539996" cy="3976536"/>
            <a:chOff x="0" y="0"/>
            <a:chExt cx="6053328" cy="53020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53328" cy="5302048"/>
            </a:xfrm>
            <a:custGeom>
              <a:avLst/>
              <a:gdLst/>
              <a:ahLst/>
              <a:cxnLst/>
              <a:rect r="r" b="b" t="t" l="l"/>
              <a:pathLst>
                <a:path h="5302048" w="6053328">
                  <a:moveTo>
                    <a:pt x="0" y="128535"/>
                  </a:moveTo>
                  <a:cubicBezTo>
                    <a:pt x="0" y="57573"/>
                    <a:pt x="65532" y="0"/>
                    <a:pt x="146304" y="0"/>
                  </a:cubicBezTo>
                  <a:lnTo>
                    <a:pt x="5907024" y="0"/>
                  </a:lnTo>
                  <a:cubicBezTo>
                    <a:pt x="5987796" y="0"/>
                    <a:pt x="6053328" y="57573"/>
                    <a:pt x="6053328" y="128535"/>
                  </a:cubicBezTo>
                  <a:lnTo>
                    <a:pt x="6053328" y="5173514"/>
                  </a:lnTo>
                  <a:cubicBezTo>
                    <a:pt x="6053328" y="5244475"/>
                    <a:pt x="5987796" y="5302048"/>
                    <a:pt x="5907024" y="5302048"/>
                  </a:cubicBezTo>
                  <a:lnTo>
                    <a:pt x="146304" y="5302048"/>
                  </a:lnTo>
                  <a:cubicBezTo>
                    <a:pt x="65532" y="5302048"/>
                    <a:pt x="0" y="5244476"/>
                    <a:pt x="0" y="5173514"/>
                  </a:cubicBez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20322" y="3615944"/>
            <a:ext cx="3854196" cy="1028700"/>
            <a:chOff x="0" y="0"/>
            <a:chExt cx="5138928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38928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3" r="0" b="-230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38928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</a:t>
              </a: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 Audience</a:t>
              </a:r>
            </a:p>
            <a:p>
              <a:pPr algn="l">
                <a:lnSpc>
                  <a:spcPts val="3168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718417" y="4798797"/>
            <a:ext cx="4092321" cy="1920240"/>
            <a:chOff x="0" y="0"/>
            <a:chExt cx="5456428" cy="25603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56428" cy="2560320"/>
            </a:xfrm>
            <a:custGeom>
              <a:avLst/>
              <a:gdLst/>
              <a:ahLst/>
              <a:cxnLst/>
              <a:rect r="r" b="b" t="t" l="l"/>
              <a:pathLst>
                <a:path h="2560320" w="5456428">
                  <a:moveTo>
                    <a:pt x="0" y="0"/>
                  </a:moveTo>
                  <a:lnTo>
                    <a:pt x="5456428" y="0"/>
                  </a:lnTo>
                  <a:lnTo>
                    <a:pt x="5456428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" t="0" r="-729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5456428" cy="264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</a:t>
              </a:r>
              <a:r>
                <a:rPr lang="en-US" sz="2400" b="true">
                  <a:solidFill>
                    <a:srgbClr val="C3D0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inistry of Transportation — give us the data, we build this for Egypt's roads.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</p:spTree>
  </p:cSld>
  <p:clrMapOvr>
    <a:masterClrMapping/>
  </p:clrMapOvr>
  <p:transition spd="fast">
    <p:wipe dir="r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17520" y="-30175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02A7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154680"/>
            <a:ext cx="4829710" cy="1508760"/>
            <a:chOff x="0" y="0"/>
            <a:chExt cx="6439613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39614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39614">
                  <a:moveTo>
                    <a:pt x="0" y="0"/>
                  </a:moveTo>
                  <a:lnTo>
                    <a:pt x="6439614" y="0"/>
                  </a:lnTo>
                  <a:lnTo>
                    <a:pt x="643961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-226591" b="-1537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439613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1872" y="4594860"/>
            <a:ext cx="13716000" cy="685800"/>
            <a:chOff x="0" y="0"/>
            <a:chExt cx="182880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288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CBD8F5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Open for questions and feedback from the committee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2347" y="5682615"/>
            <a:ext cx="10031730" cy="842010"/>
            <a:chOff x="0" y="0"/>
            <a:chExt cx="13375640" cy="1122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75639" cy="1122680"/>
            </a:xfrm>
            <a:custGeom>
              <a:avLst/>
              <a:gdLst/>
              <a:ahLst/>
              <a:cxnLst/>
              <a:rect r="r" b="b" t="t" l="l"/>
              <a:pathLst>
                <a:path h="1122680" w="13375639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lnTo>
                    <a:pt x="12814300" y="0"/>
                  </a:lnTo>
                  <a:cubicBezTo>
                    <a:pt x="13124307" y="0"/>
                    <a:pt x="13375639" y="251333"/>
                    <a:pt x="13375639" y="561340"/>
                  </a:cubicBezTo>
                  <a:cubicBezTo>
                    <a:pt x="13375639" y="871347"/>
                    <a:pt x="13124307" y="1122680"/>
                    <a:pt x="12814300" y="1122680"/>
                  </a:cubicBezTo>
                  <a:lnTo>
                    <a:pt x="561340" y="1122680"/>
                  </a:ln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02A7A"/>
            </a:solidFill>
            <a:ln w="19050" cap="sq">
              <a:solidFill>
                <a:srgbClr val="00B3E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1872" y="5692140"/>
            <a:ext cx="10012680" cy="822960"/>
            <a:chOff x="0" y="0"/>
            <a:chExt cx="133502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350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  ·   traffic-volume-production.up.railway.app/#simulator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2347" y="6752463"/>
            <a:ext cx="10031730" cy="842010"/>
            <a:chOff x="0" y="0"/>
            <a:chExt cx="13375640" cy="1122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75639" cy="1122680"/>
            </a:xfrm>
            <a:custGeom>
              <a:avLst/>
              <a:gdLst/>
              <a:ahLst/>
              <a:cxnLst/>
              <a:rect r="r" b="b" t="t" l="l"/>
              <a:pathLst>
                <a:path h="1122680" w="13375639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lnTo>
                    <a:pt x="12814300" y="0"/>
                  </a:lnTo>
                  <a:cubicBezTo>
                    <a:pt x="13124307" y="0"/>
                    <a:pt x="13375639" y="251333"/>
                    <a:pt x="13375639" y="561340"/>
                  </a:cubicBezTo>
                  <a:cubicBezTo>
                    <a:pt x="13375639" y="871347"/>
                    <a:pt x="13124307" y="1122680"/>
                    <a:pt x="12814300" y="1122680"/>
                  </a:cubicBezTo>
                  <a:lnTo>
                    <a:pt x="561340" y="1122680"/>
                  </a:ln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02A7A"/>
            </a:solidFill>
            <a:ln w="19050" cap="sq">
              <a:solidFill>
                <a:srgbClr val="00B3E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61872" y="6761988"/>
            <a:ext cx="10012680" cy="822960"/>
            <a:chOff x="0" y="0"/>
            <a:chExt cx="1335024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350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 Code   ·   github.com/AbdoTechno/Traffic-Volume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6344" y="9562938"/>
            <a:ext cx="8229600" cy="356616"/>
            <a:chOff x="0" y="0"/>
            <a:chExt cx="10972800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10972800" cy="580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35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Samsung Innovation Campus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-7080">
            <a:off x="678647" y="9316012"/>
            <a:ext cx="1555454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813280" y="6583680"/>
            <a:ext cx="6035040" cy="6035040"/>
            <a:chOff x="0" y="0"/>
            <a:chExt cx="8046720" cy="8046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102A7A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515645" y="5490704"/>
            <a:ext cx="2048792" cy="2048792"/>
          </a:xfrm>
          <a:custGeom>
            <a:avLst/>
            <a:gdLst/>
            <a:ahLst/>
            <a:cxnLst/>
            <a:rect r="r" b="b" t="t" l="l"/>
            <a:pathLst>
              <a:path h="2048792" w="2048792">
                <a:moveTo>
                  <a:pt x="0" y="0"/>
                </a:moveTo>
                <a:lnTo>
                  <a:pt x="2048792" y="0"/>
                </a:lnTo>
                <a:lnTo>
                  <a:pt x="2048792" y="2048792"/>
                </a:lnTo>
                <a:lnTo>
                  <a:pt x="0" y="2048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DAHULV7KokM</dc:identifier>
  <dcterms:modified xsi:type="dcterms:W3CDTF">2011-08-01T06:04:30Z</dcterms:modified>
  <cp:revision>1</cp:revision>
  <dc:title>Traffic_Volume_Presentation.pptx</dc:title>
</cp:coreProperties>
</file>